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a636a39-d1db-b53b-7826-017eb426d637}">
          <p14:sldIdLst>
            <p14:sldId id="256"/>
          </p14:sldIdLst>
        </p14:section>
        <p14:section name="The six components" id="{43340354-e538-9041-0e72-5bb0799d95dc}">
          <p14:sldIdLst>
            <p14:sldId id="257"/>
            <p14:sldId id="258"/>
            <p14:sldId id="259"/>
            <p14:sldId id="260"/>
            <p14:sldId id="261"/>
            <p14:sldId id="262"/>
          </p14:sldIdLst>
        </p14:section>
        <p14:section name="The learning loop" id="{3dc719bf-d225-9e57-af0a-1c1089f28e59}">
          <p14:sldIdLst>
            <p14:sldId id="263"/>
            <p14:sldId id="264"/>
            <p14:sldId id="265"/>
          </p14:sldIdLst>
        </p14:section>
        <p14:section name="Experiments" id="{88b6c080-1747-cad2-1963-cb4ffd2a9eb1}">
          <p14:sldIdLst>
            <p14:sldId id="266"/>
            <p14:sldId id="267"/>
          </p14:sldIdLst>
        </p14:section>
        <p14:section name="Closing" id="{c00825cf-4f2b-3491-9632-9fbbc30245a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loss</c:v>
                </c:pt>
              </c:strCache>
            </c:strRef>
          </c:tx>
          <c:spPr>
            <a:solidFill>
              <a:srgbClr val="F28C28"/>
            </a:solidFill>
            <a:effectLst/>
          </c:spPr>
          <c:invertIfNegative val="0"/>
          <c:dLbls>
            <c:numFmt formatCode="0.0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cat>
            <c:multiLvlStrRef>
              <c:f>Sheet1!$A$2:$A$5</c:f>
              <c:multiLvlStrCache>
                <c:ptCount val="4"/>
                <c:lvl>
                  <c:pt idx="0">
                    <c:v>No hidden</c:v>
                  </c:pt>
                  <c:pt idx="1">
                    <c:v>1 x 2</c:v>
                  </c:pt>
                  <c:pt idx="2">
                    <c:v>1 x 4</c:v>
                  </c:pt>
                  <c:pt idx="3">
                    <c:v>4 then 2</c:v>
                  </c:pt>
                </c:lvl>
              </c:multiLvlStrCache>
            </c:multiLvlStrRef>
          </c:cat>
          <c:val>
            <c:numRef>
              <c:f>Sheet1!$B$2:$B$5</c:f>
              <c:numCache>
                <c:formatCode>General</c:formatCode>
                <c:ptCount val="4"/>
                <c:pt idx="0">
                  <c:v>0.532</c:v>
                </c:pt>
                <c:pt idx="1">
                  <c:v>0.344</c:v>
                </c:pt>
                <c:pt idx="2">
                  <c:v>0.009</c:v>
                </c:pt>
                <c:pt idx="3">
                  <c:v>0.001</c:v>
                </c:pt>
              </c:numCache>
            </c:numRef>
          </c:val>
        </c:ser>
        <c:dLbls>
          <c:numFmt formatCode="0.0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366"/>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DD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3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ReLU</c:v>
                </c:pt>
              </c:strCache>
            </c:strRef>
          </c:tx>
          <c:spPr>
            <a:solidFill>
              <a:srgbClr val="F28C28"/>
            </a:solidFill>
            <a:ln w="31750" cap="flat">
              <a:solidFill>
                <a:srgbClr val="F28C2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8C28"/>
              </a:solidFill>
              <a:ln w="9525" cap="flat">
                <a:solidFill>
                  <a:srgbClr val="F28C28"/>
                </a:solidFill>
                <a:prstDash val="solid"/>
                <a:round/>
              </a:ln>
              <a:effectLst/>
            </c:spPr>
          </c:marker>
          <c:cat>
            <c:multiLvlStrRef>
              <c:f>Sheet1!$A$2:$A$18</c:f>
              <c:multiLvlStrCache>
                <c:ptCount val="17"/>
                <c:lvl>
                  <c:pt idx="0">
                    <c:v>-4</c:v>
                  </c:pt>
                  <c:pt idx="1">
                    <c:v/>
                  </c:pt>
                  <c:pt idx="2">
                    <c:v>-3</c:v>
                  </c:pt>
                  <c:pt idx="3">
                    <c:v/>
                  </c:pt>
                  <c:pt idx="4">
                    <c:v>-2</c:v>
                  </c:pt>
                  <c:pt idx="5">
                    <c:v/>
                  </c:pt>
                  <c:pt idx="6">
                    <c:v>-1</c:v>
                  </c:pt>
                  <c:pt idx="7">
                    <c:v/>
                  </c:pt>
                  <c:pt idx="8">
                    <c:v>0</c:v>
                  </c:pt>
                  <c:pt idx="9">
                    <c:v/>
                  </c:pt>
                  <c:pt idx="10">
                    <c:v>1</c:v>
                  </c:pt>
                  <c:pt idx="11">
                    <c:v/>
                  </c:pt>
                  <c:pt idx="12">
                    <c:v>2</c:v>
                  </c:pt>
                  <c:pt idx="13">
                    <c:v/>
                  </c:pt>
                  <c:pt idx="14">
                    <c:v>3</c:v>
                  </c:pt>
                  <c:pt idx="15">
                    <c:v/>
                  </c:pt>
                  <c:pt idx="16">
                    <c:v>4</c:v>
                  </c:pt>
                </c:lvl>
              </c:multiLvlStrCache>
            </c:multiLvlStrRef>
          </c:cat>
          <c:val>
            <c:numRef>
              <c:f>Sheet1!$B$2:$B$18</c:f>
              <c:numCache>
                <c:formatCode>General</c:formatCode>
                <c:ptCount val="17"/>
                <c:pt idx="0">
                  <c:v>0</c:v>
                </c:pt>
                <c:pt idx="1">
                  <c:v>0</c:v>
                </c:pt>
                <c:pt idx="2">
                  <c:v>0</c:v>
                </c:pt>
                <c:pt idx="3">
                  <c:v>0</c:v>
                </c:pt>
                <c:pt idx="4">
                  <c:v>0</c:v>
                </c:pt>
                <c:pt idx="5">
                  <c:v>0</c:v>
                </c:pt>
                <c:pt idx="6">
                  <c:v>0</c:v>
                </c:pt>
                <c:pt idx="7">
                  <c:v>0</c:v>
                </c:pt>
                <c:pt idx="8">
                  <c:v>0</c:v>
                </c:pt>
                <c:pt idx="9">
                  <c:v>0.5</c:v>
                </c:pt>
                <c:pt idx="10">
                  <c:v>1</c:v>
                </c:pt>
                <c:pt idx="11">
                  <c:v>1.5</c:v>
                </c:pt>
                <c:pt idx="12">
                  <c:v>2</c:v>
                </c:pt>
                <c:pt idx="13">
                  <c:v>2.5</c:v>
                </c:pt>
                <c:pt idx="14">
                  <c:v>3</c:v>
                </c:pt>
                <c:pt idx="15">
                  <c:v>3.5</c:v>
                </c:pt>
                <c:pt idx="16">
                  <c:v>4</c:v>
                </c:pt>
              </c:numCache>
            </c:numRef>
          </c:val>
          <c:smooth val="0"/>
        </c:ser>
        <c:ser>
          <c:idx val="1"/>
          <c:order val="1"/>
          <c:tx>
            <c:strRef>
              <c:f>Sheet1!$C$1</c:f>
              <c:strCache>
                <c:ptCount val="1"/>
                <c:pt idx="0">
                  <c:v>Sigmoid</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86C1"/>
              </a:solidFill>
              <a:ln w="9525" cap="flat">
                <a:solidFill>
                  <a:srgbClr val="2E86C1"/>
                </a:solidFill>
                <a:prstDash val="solid"/>
                <a:round/>
              </a:ln>
              <a:effectLst/>
            </c:spPr>
          </c:marker>
          <c:cat>
            <c:multiLvlStrRef>
              <c:f>Sheet1!$A$2:$A$18</c:f>
              <c:multiLvlStrCache>
                <c:ptCount val="17"/>
                <c:lvl>
                  <c:pt idx="0">
                    <c:v>-4</c:v>
                  </c:pt>
                  <c:pt idx="1">
                    <c:v/>
                  </c:pt>
                  <c:pt idx="2">
                    <c:v>-3</c:v>
                  </c:pt>
                  <c:pt idx="3">
                    <c:v/>
                  </c:pt>
                  <c:pt idx="4">
                    <c:v>-2</c:v>
                  </c:pt>
                  <c:pt idx="5">
                    <c:v/>
                  </c:pt>
                  <c:pt idx="6">
                    <c:v>-1</c:v>
                  </c:pt>
                  <c:pt idx="7">
                    <c:v/>
                  </c:pt>
                  <c:pt idx="8">
                    <c:v>0</c:v>
                  </c:pt>
                  <c:pt idx="9">
                    <c:v/>
                  </c:pt>
                  <c:pt idx="10">
                    <c:v>1</c:v>
                  </c:pt>
                  <c:pt idx="11">
                    <c:v/>
                  </c:pt>
                  <c:pt idx="12">
                    <c:v>2</c:v>
                  </c:pt>
                  <c:pt idx="13">
                    <c:v/>
                  </c:pt>
                  <c:pt idx="14">
                    <c:v>3</c:v>
                  </c:pt>
                  <c:pt idx="15">
                    <c:v/>
                  </c:pt>
                  <c:pt idx="16">
                    <c:v>4</c:v>
                  </c:pt>
                </c:lvl>
              </c:multiLvlStrCache>
            </c:multiLvlStrRef>
          </c:cat>
          <c:val>
            <c:numRef>
              <c:f>Sheet1!$C$2:$C$18</c:f>
              <c:numCache>
                <c:formatCode>General</c:formatCode>
                <c:ptCount val="17"/>
                <c:pt idx="0">
                  <c:v>0.01798620996209156</c:v>
                </c:pt>
                <c:pt idx="1">
                  <c:v>0.02931223075135632</c:v>
                </c:pt>
                <c:pt idx="2">
                  <c:v>0.04742587317756678</c:v>
                </c:pt>
                <c:pt idx="3">
                  <c:v>0.07585818002124355</c:v>
                </c:pt>
                <c:pt idx="4">
                  <c:v>0.11920292202211755</c:v>
                </c:pt>
                <c:pt idx="5">
                  <c:v>0.18242552380635635</c:v>
                </c:pt>
                <c:pt idx="6">
                  <c:v>0.2689414213699951</c:v>
                </c:pt>
                <c:pt idx="7">
                  <c:v>0.3775406687981454</c:v>
                </c:pt>
                <c:pt idx="8">
                  <c:v>0.5</c:v>
                </c:pt>
                <c:pt idx="9">
                  <c:v>0.6224593312018546</c:v>
                </c:pt>
                <c:pt idx="10">
                  <c:v>0.7310585786300049</c:v>
                </c:pt>
                <c:pt idx="11">
                  <c:v>0.8175744761936437</c:v>
                </c:pt>
                <c:pt idx="12">
                  <c:v>0.8807970779778823</c:v>
                </c:pt>
                <c:pt idx="13">
                  <c:v>0.9241418199787566</c:v>
                </c:pt>
                <c:pt idx="14">
                  <c:v>0.9525741268224334</c:v>
                </c:pt>
                <c:pt idx="15">
                  <c:v>0.9706877692486436</c:v>
                </c:pt>
                <c:pt idx="16">
                  <c:v>0.9820137900379085</c:v>
                </c:pt>
              </c:numCache>
            </c:numRef>
          </c:val>
          <c:smooth val="0"/>
        </c:ser>
        <c:ser>
          <c:idx val="2"/>
          <c:order val="2"/>
          <c:tx>
            <c:strRef>
              <c:f>Sheet1!$D$1</c:f>
              <c:strCache>
                <c:ptCount val="1"/>
                <c:pt idx="0">
                  <c:v>Tanh</c:v>
                </c:pt>
              </c:strCache>
            </c:strRef>
          </c:tx>
          <c:spPr>
            <a:solidFill>
              <a:srgbClr val="2A9D8F"/>
            </a:solidFill>
            <a:ln w="31750" cap="flat">
              <a:solidFill>
                <a:srgbClr val="2A9D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9D8F"/>
              </a:solidFill>
              <a:ln w="9525" cap="flat">
                <a:solidFill>
                  <a:srgbClr val="2A9D8F"/>
                </a:solidFill>
                <a:prstDash val="solid"/>
                <a:round/>
              </a:ln>
              <a:effectLst/>
            </c:spPr>
          </c:marker>
          <c:cat>
            <c:multiLvlStrRef>
              <c:f>Sheet1!$A$2:$A$18</c:f>
              <c:multiLvlStrCache>
                <c:ptCount val="17"/>
                <c:lvl>
                  <c:pt idx="0">
                    <c:v>-4</c:v>
                  </c:pt>
                  <c:pt idx="1">
                    <c:v/>
                  </c:pt>
                  <c:pt idx="2">
                    <c:v>-3</c:v>
                  </c:pt>
                  <c:pt idx="3">
                    <c:v/>
                  </c:pt>
                  <c:pt idx="4">
                    <c:v>-2</c:v>
                  </c:pt>
                  <c:pt idx="5">
                    <c:v/>
                  </c:pt>
                  <c:pt idx="6">
                    <c:v>-1</c:v>
                  </c:pt>
                  <c:pt idx="7">
                    <c:v/>
                  </c:pt>
                  <c:pt idx="8">
                    <c:v>0</c:v>
                  </c:pt>
                  <c:pt idx="9">
                    <c:v/>
                  </c:pt>
                  <c:pt idx="10">
                    <c:v>1</c:v>
                  </c:pt>
                  <c:pt idx="11">
                    <c:v/>
                  </c:pt>
                  <c:pt idx="12">
                    <c:v>2</c:v>
                  </c:pt>
                  <c:pt idx="13">
                    <c:v/>
                  </c:pt>
                  <c:pt idx="14">
                    <c:v>3</c:v>
                  </c:pt>
                  <c:pt idx="15">
                    <c:v/>
                  </c:pt>
                  <c:pt idx="16">
                    <c:v>4</c:v>
                  </c:pt>
                </c:lvl>
              </c:multiLvlStrCache>
            </c:multiLvlStrRef>
          </c:cat>
          <c:val>
            <c:numRef>
              <c:f>Sheet1!$D$2:$D$18</c:f>
              <c:numCache>
                <c:formatCode>General</c:formatCode>
                <c:ptCount val="17"/>
                <c:pt idx="0">
                  <c:v>-0.999329299739067</c:v>
                </c:pt>
                <c:pt idx="1">
                  <c:v>-0.9981778976111987</c:v>
                </c:pt>
                <c:pt idx="2">
                  <c:v>-0.9950547536867305</c:v>
                </c:pt>
                <c:pt idx="3">
                  <c:v>-0.9866142981514303</c:v>
                </c:pt>
                <c:pt idx="4">
                  <c:v>-0.9640275800758169</c:v>
                </c:pt>
                <c:pt idx="5">
                  <c:v>-0.9051482536448664</c:v>
                </c:pt>
                <c:pt idx="6">
                  <c:v>-0.7615941559557649</c:v>
                </c:pt>
                <c:pt idx="7">
                  <c:v>-0.46211715726000974</c:v>
                </c:pt>
                <c:pt idx="8">
                  <c:v>0</c:v>
                </c:pt>
                <c:pt idx="9">
                  <c:v>0.46211715726000974</c:v>
                </c:pt>
                <c:pt idx="10">
                  <c:v>0.7615941559557649</c:v>
                </c:pt>
                <c:pt idx="11">
                  <c:v>0.9051482536448664</c:v>
                </c:pt>
                <c:pt idx="12">
                  <c:v>0.9640275800758169</c:v>
                </c:pt>
                <c:pt idx="13">
                  <c:v>0.9866142981514303</c:v>
                </c:pt>
                <c:pt idx="14">
                  <c:v>0.9950547536867305</c:v>
                </c:pt>
                <c:pt idx="15">
                  <c:v>0.9981778976111987</c:v>
                </c:pt>
                <c:pt idx="16">
                  <c:v>0.999329299739067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3A4366"/>
                    </a:solidFill>
                    <a:latin typeface="Arial"/>
                  </a:defRPr>
                </a:pPr>
                <a:r>
                  <a:rPr sz="1000" b="0" i="0" u="none" strike="noStrike">
                    <a:solidFill>
                      <a:srgbClr val="3A4366"/>
                    </a:solidFill>
                    <a:latin typeface="Arial"/>
                  </a:rPr>
                  <a:t>input z</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366"/>
                </a:solidFill>
                <a:latin typeface="+mn-lt"/>
              </a:defRPr>
            </a:pPr>
            <a:endParaRPr lang="en-US"/>
          </a:p>
        </c:txPr>
        <c:crossAx val="2094734552"/>
        <c:crosses val="autoZero"/>
        <c:auto val="1"/>
        <c:lblAlgn val="ctr"/>
        <c:noMultiLvlLbl val="1"/>
      </c:catAx>
      <c:valAx>
        <c:axId val="2094734552"/>
        <c:scaling>
          <c:orientation val="minMax"/>
          <c:max val="4"/>
          <c:min val="-1"/>
        </c:scaling>
        <c:delete val="0"/>
        <c:axPos val="l"/>
        <c:majorGridlines>
          <c:spPr>
            <a:ln w="6350" cap="flat">
              <a:solidFill>
                <a:srgbClr val="DD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4366"/>
                </a:solidFill>
                <a:latin typeface="+mn-lt"/>
              </a:defRPr>
            </a:pPr>
            <a:endParaRPr lang="en-US"/>
          </a:p>
        </c:txPr>
        <c:crossAx val="2094734554"/>
        <c:crosses val="autoZero"/>
        <c:crossBetween val="between"/>
        <c:majorUnit val="1"/>
      </c:valAx>
      <c:spPr>
        <a:noFill/>
        <a:ln>
          <a:noFill/>
        </a:ln>
        <a:effectLst/>
      </c:spPr>
    </c:plotArea>
    <c:legend>
      <c:legendPos val="t"/>
      <c:overlay val="0"/>
      <c:txPr>
        <a:bodyPr/>
        <a:lstStyle/>
        <a:p>
          <a:pPr>
            <a:defRPr sz="1100">
              <a:solidFill>
                <a:srgbClr val="3A43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loss</c:v>
                </c:pt>
              </c:strCache>
            </c:strRef>
          </c:tx>
          <c:spPr>
            <a:solidFill>
              <a:srgbClr val="2A9D8F"/>
            </a:solidFill>
            <a:effectLst/>
          </c:spPr>
          <c:invertIfNegative val="0"/>
          <c:dLbls>
            <c:numFmt formatCode="0.0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cat>
            <c:multiLvlStrRef>
              <c:f>Sheet1!$A$2:$A$6</c:f>
              <c:multiLvlStrCache>
                <c:ptCount val="5"/>
                <c:lvl>
                  <c:pt idx="0">
                    <c:v>0.003</c:v>
                  </c:pt>
                  <c:pt idx="1">
                    <c:v>0.03</c:v>
                  </c:pt>
                  <c:pt idx="2">
                    <c:v>0.3</c:v>
                  </c:pt>
                  <c:pt idx="3">
                    <c:v>3</c:v>
                  </c:pt>
                  <c:pt idx="4">
                    <c:v>10</c:v>
                  </c:pt>
                </c:lvl>
              </c:multiLvlStrCache>
            </c:multiLvlStrRef>
          </c:cat>
          <c:val>
            <c:numRef>
              <c:f>Sheet1!$B$2:$B$6</c:f>
              <c:numCache>
                <c:formatCode>General</c:formatCode>
                <c:ptCount val="5"/>
                <c:pt idx="0">
                  <c:v>0.053</c:v>
                </c:pt>
                <c:pt idx="1">
                  <c:v>0.001</c:v>
                </c:pt>
                <c:pt idx="2">
                  <c:v>0</c:v>
                </c:pt>
                <c:pt idx="3">
                  <c:v>0.718</c:v>
                </c:pt>
                <c:pt idx="4">
                  <c:v>0.968</c:v>
                </c:pt>
              </c:numCache>
            </c:numRef>
          </c:val>
        </c:ser>
        <c:dLbls>
          <c:numFmt formatCode="0.0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3A4366"/>
                    </a:solidFill>
                    <a:latin typeface="Arial"/>
                  </a:defRPr>
                </a:pPr>
                <a:r>
                  <a:rPr sz="1000" b="0" i="0" u="none" strike="noStrike">
                    <a:solidFill>
                      <a:srgbClr val="3A4366"/>
                    </a:solidFill>
                    <a:latin typeface="Arial"/>
                  </a:rPr>
                  <a:t>learning rate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366"/>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DD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3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six building blocks of a neural network and ties each one to an experiment I ran in TensorFlow Playground.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decides where data goes, signal decides how it is shaped on the way, and the learning loop decides how the network gets better. Weights and biases sit in the signal group because they act on every value that flows through the network, even though the optimizer is what changes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moves left to right in the forward pass. The loss compares the output with the truth, backpropagation sends the error back, and the optimizer updates every weight. One pass over the whole training set is one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no hidden layer the network can only draw a straight line, so it cannot wrap around a circle (test loss 0.532). One hidden layer with four neurons got the loss down to 0.009.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neuron multiplies each input by a weight, adds a bias, and passes the sum through an activation function. The numbers here are a worked example, not values from a 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times inputs, plus a bias, is the only place a network stores what it has learned. Counting them shows why bigger networks need more data and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ReLU keeps positive values and zeroes the rest. Sigmoid squeezes values into 0 to 1, and tanh into -1 to 1. With a linear activation, the XOR pattern could not be learned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turns every prediction into one number to minimize. The choice of loss decides what kind of mistake the network cares about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optimizer is the only component that changes the weights. The learning rate decides whether it walks, runs, or jumps past the bottom of the loss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are the forward pass and steps 4 to 6 are the learning loop. This is the cycle the architecture slide shows as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changed one thing at a time and kept the seed fixed so each difference comes from the setting I changed. Full numbers for all runs are in the companion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and blue background is what the network predicts for every point in the plane. The dots are the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insights I took from building this deck and running the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2697480"/>
            <a:ext cx="7315200" cy="822960"/>
          </a:xfrm>
          <a:prstGeom prst="rect">
            <a:avLst/>
          </a:prstGeom>
          <a:noFill/>
          <a:ln/>
        </p:spPr>
        <p:txBody>
          <a:bodyPr wrap="square" rtlCol="0"/>
          <a:lstStyle>
            <a:lvl1pPr indent="0" marL="0">
              <a:buNone/>
              <a:defRPr lang="en-US" sz="1600" dirty="0">
                <a:solidFill>
                  <a:srgbClr val="C9CEE0"/>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rgbClr val="8D99AE"/>
                </a:solidFill>
              </a:rPr>
              <a:t>Bhargav Chintam  |  AIML-501 Model Development  |  Visualizing Neural Networks</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Inside a Neural Network</a:t>
            </a:r>
            <a:endParaRPr lang="en-US" sz="4000" dirty="0"/>
          </a:p>
        </p:txBody>
      </p:sp>
      <p:sp>
        <p:nvSpPr>
          <p:cNvPr id="3" name="Text 0"/>
          <p:cNvSpPr/>
          <p:nvPr>
            <p:ph idx="101" type="body" hasCustomPrompt="1"/>
          </p:nvPr>
        </p:nvSpPr>
        <p:spPr>
          <a:xfrm>
            <a:off x="548640" y="2697480"/>
            <a:ext cx="7315200" cy="822960"/>
          </a:xfrm>
          <a:prstGeom prst="rect">
            <a:avLst/>
          </a:prstGeom>
          <a:noFill/>
          <a:ln/>
        </p:spPr>
        <p:txBody>
          <a:bodyPr wrap="square" lIns="0" tIns="0" rIns="0" bIns="0" rtlCol="0" anchor="t"/>
          <a:lstStyle/>
          <a:p>
            <a:pPr indent="0" marL="0">
              <a:buNone/>
            </a:pPr>
            <a:r>
              <a:rPr lang="en-US" sz="1600" dirty="0">
                <a:solidFill>
                  <a:srgbClr val="C9CEE0"/>
                </a:solidFill>
              </a:rPr>
              <a:t>Six components, one learning loop, and what 23 training runs in TensorFlow Playground taught me</a:t>
            </a:r>
            <a:endParaRPr lang="en-US" sz="1600" dirty="0"/>
          </a:p>
        </p:txBody>
      </p:sp>
      <p:sp>
        <p:nvSpPr>
          <p:cNvPr id="4" name="text-1"/>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100" dirty="0">
                <a:solidFill>
                  <a:srgbClr val="8D99AE"/>
                </a:solidFill>
                <a:latin typeface="Calibri" pitchFamily="34" charset="0"/>
                <a:ea typeface="Calibri" pitchFamily="34" charset="-122"/>
                <a:cs typeface="Calibri" pitchFamily="34" charset="-120"/>
              </a:rPr>
              <a:t>Bindu Bhargava Reddy Chintam  |  AIML-501: Model Development  |  Indiana Wesleyan University  |  October 2026</a:t>
            </a:r>
            <a:endParaRPr lang="en-US" sz="1100" dirty="0"/>
          </a:p>
        </p:txBody>
      </p:sp>
      <p:sp>
        <p:nvSpPr>
          <p:cNvPr id="5" name="edge-2"/>
          <p:cNvSpPr/>
          <p:nvPr/>
        </p:nvSpPr>
        <p:spPr>
          <a:xfrm flipV="1">
            <a:off x="6784848" y="429768"/>
            <a:ext cx="731520" cy="182880"/>
          </a:xfrm>
          <a:prstGeom prst="line">
            <a:avLst/>
          </a:prstGeom>
          <a:noFill/>
          <a:ln w="12700">
            <a:solidFill>
              <a:srgbClr val="4A5378"/>
            </a:solidFill>
            <a:prstDash val="solid"/>
          </a:ln>
        </p:spPr>
      </p:sp>
      <p:sp>
        <p:nvSpPr>
          <p:cNvPr id="6" name="edge-3"/>
          <p:cNvSpPr/>
          <p:nvPr/>
        </p:nvSpPr>
        <p:spPr>
          <a:xfrm>
            <a:off x="6784848" y="612648"/>
            <a:ext cx="731520" cy="228600"/>
          </a:xfrm>
          <a:prstGeom prst="line">
            <a:avLst/>
          </a:prstGeom>
          <a:noFill/>
          <a:ln w="12700">
            <a:solidFill>
              <a:srgbClr val="4A5378"/>
            </a:solidFill>
            <a:prstDash val="solid"/>
          </a:ln>
        </p:spPr>
      </p:sp>
      <p:sp>
        <p:nvSpPr>
          <p:cNvPr id="7" name="edge-4"/>
          <p:cNvSpPr/>
          <p:nvPr/>
        </p:nvSpPr>
        <p:spPr>
          <a:xfrm>
            <a:off x="6784848" y="612648"/>
            <a:ext cx="731520" cy="640080"/>
          </a:xfrm>
          <a:prstGeom prst="line">
            <a:avLst/>
          </a:prstGeom>
          <a:noFill/>
          <a:ln w="12700">
            <a:solidFill>
              <a:srgbClr val="4A5378"/>
            </a:solidFill>
            <a:prstDash val="solid"/>
          </a:ln>
        </p:spPr>
      </p:sp>
      <p:sp>
        <p:nvSpPr>
          <p:cNvPr id="8" name="edge-5"/>
          <p:cNvSpPr/>
          <p:nvPr/>
        </p:nvSpPr>
        <p:spPr>
          <a:xfrm flipV="1">
            <a:off x="6784848" y="429768"/>
            <a:ext cx="731520" cy="640080"/>
          </a:xfrm>
          <a:prstGeom prst="line">
            <a:avLst/>
          </a:prstGeom>
          <a:noFill/>
          <a:ln w="12700">
            <a:solidFill>
              <a:srgbClr val="4A5378"/>
            </a:solidFill>
            <a:prstDash val="solid"/>
          </a:ln>
        </p:spPr>
      </p:sp>
      <p:sp>
        <p:nvSpPr>
          <p:cNvPr id="9" name="edge-6"/>
          <p:cNvSpPr/>
          <p:nvPr/>
        </p:nvSpPr>
        <p:spPr>
          <a:xfrm flipV="1">
            <a:off x="6784848" y="841248"/>
            <a:ext cx="731520" cy="228600"/>
          </a:xfrm>
          <a:prstGeom prst="line">
            <a:avLst/>
          </a:prstGeom>
          <a:noFill/>
          <a:ln w="12700">
            <a:solidFill>
              <a:srgbClr val="4A5378"/>
            </a:solidFill>
            <a:prstDash val="solid"/>
          </a:ln>
        </p:spPr>
      </p:sp>
      <p:sp>
        <p:nvSpPr>
          <p:cNvPr id="10" name="edge-7"/>
          <p:cNvSpPr/>
          <p:nvPr/>
        </p:nvSpPr>
        <p:spPr>
          <a:xfrm>
            <a:off x="6784848" y="1069848"/>
            <a:ext cx="731520" cy="182880"/>
          </a:xfrm>
          <a:prstGeom prst="line">
            <a:avLst/>
          </a:prstGeom>
          <a:noFill/>
          <a:ln w="12700">
            <a:solidFill>
              <a:srgbClr val="4A5378"/>
            </a:solidFill>
            <a:prstDash val="solid"/>
          </a:ln>
        </p:spPr>
      </p:sp>
      <p:sp>
        <p:nvSpPr>
          <p:cNvPr id="11" name="edge-8"/>
          <p:cNvSpPr/>
          <p:nvPr/>
        </p:nvSpPr>
        <p:spPr>
          <a:xfrm>
            <a:off x="7516368" y="429768"/>
            <a:ext cx="731520" cy="411480"/>
          </a:xfrm>
          <a:prstGeom prst="line">
            <a:avLst/>
          </a:prstGeom>
          <a:noFill/>
          <a:ln w="12700">
            <a:solidFill>
              <a:srgbClr val="4A5378"/>
            </a:solidFill>
            <a:prstDash val="solid"/>
          </a:ln>
        </p:spPr>
      </p:sp>
      <p:sp>
        <p:nvSpPr>
          <p:cNvPr id="12" name="edge-9"/>
          <p:cNvSpPr/>
          <p:nvPr/>
        </p:nvSpPr>
        <p:spPr>
          <a:xfrm>
            <a:off x="7516368" y="841248"/>
            <a:ext cx="731520" cy="914"/>
          </a:xfrm>
          <a:prstGeom prst="line">
            <a:avLst/>
          </a:prstGeom>
          <a:noFill/>
          <a:ln w="12700">
            <a:solidFill>
              <a:srgbClr val="4A5378"/>
            </a:solidFill>
            <a:prstDash val="solid"/>
          </a:ln>
        </p:spPr>
      </p:sp>
      <p:sp>
        <p:nvSpPr>
          <p:cNvPr id="13" name="edge-10"/>
          <p:cNvSpPr/>
          <p:nvPr/>
        </p:nvSpPr>
        <p:spPr>
          <a:xfrm flipV="1">
            <a:off x="7516368" y="841248"/>
            <a:ext cx="731520" cy="411480"/>
          </a:xfrm>
          <a:prstGeom prst="line">
            <a:avLst/>
          </a:prstGeom>
          <a:noFill/>
          <a:ln w="12700">
            <a:solidFill>
              <a:srgbClr val="4A5378"/>
            </a:solidFill>
            <a:prstDash val="solid"/>
          </a:ln>
        </p:spPr>
      </p:sp>
      <p:sp>
        <p:nvSpPr>
          <p:cNvPr id="14" name="node-11"/>
          <p:cNvSpPr/>
          <p:nvPr/>
        </p:nvSpPr>
        <p:spPr>
          <a:xfrm>
            <a:off x="6675120" y="502920"/>
            <a:ext cx="219456" cy="219456"/>
          </a:xfrm>
          <a:prstGeom prst="ellipse">
            <a:avLst/>
          </a:prstGeom>
          <a:solidFill>
            <a:srgbClr val="2E86C1"/>
          </a:solidFill>
          <a:ln w="15875">
            <a:solidFill>
              <a:srgbClr val="2E86C1"/>
            </a:solidFill>
            <a:prstDash val="solid"/>
          </a:ln>
        </p:spPr>
      </p:sp>
      <p:sp>
        <p:nvSpPr>
          <p:cNvPr id="15" name="node-12"/>
          <p:cNvSpPr/>
          <p:nvPr/>
        </p:nvSpPr>
        <p:spPr>
          <a:xfrm>
            <a:off x="6675120" y="960120"/>
            <a:ext cx="219456" cy="219456"/>
          </a:xfrm>
          <a:prstGeom prst="ellipse">
            <a:avLst/>
          </a:prstGeom>
          <a:solidFill>
            <a:srgbClr val="2E86C1"/>
          </a:solidFill>
          <a:ln w="15875">
            <a:solidFill>
              <a:srgbClr val="2E86C1"/>
            </a:solidFill>
            <a:prstDash val="solid"/>
          </a:ln>
        </p:spPr>
      </p:sp>
      <p:sp>
        <p:nvSpPr>
          <p:cNvPr id="16" name="node-13"/>
          <p:cNvSpPr/>
          <p:nvPr/>
        </p:nvSpPr>
        <p:spPr>
          <a:xfrm>
            <a:off x="7406640" y="320040"/>
            <a:ext cx="219456" cy="219456"/>
          </a:xfrm>
          <a:prstGeom prst="ellipse">
            <a:avLst/>
          </a:prstGeom>
          <a:solidFill>
            <a:srgbClr val="F28C28"/>
          </a:solidFill>
          <a:ln w="15875">
            <a:solidFill>
              <a:srgbClr val="F28C28"/>
            </a:solidFill>
            <a:prstDash val="solid"/>
          </a:ln>
        </p:spPr>
      </p:sp>
      <p:sp>
        <p:nvSpPr>
          <p:cNvPr id="17" name="node-14"/>
          <p:cNvSpPr/>
          <p:nvPr/>
        </p:nvSpPr>
        <p:spPr>
          <a:xfrm>
            <a:off x="7406640" y="731520"/>
            <a:ext cx="219456" cy="219456"/>
          </a:xfrm>
          <a:prstGeom prst="ellipse">
            <a:avLst/>
          </a:prstGeom>
          <a:solidFill>
            <a:srgbClr val="F28C28"/>
          </a:solidFill>
          <a:ln w="15875">
            <a:solidFill>
              <a:srgbClr val="F28C28"/>
            </a:solidFill>
            <a:prstDash val="solid"/>
          </a:ln>
        </p:spPr>
      </p:sp>
      <p:sp>
        <p:nvSpPr>
          <p:cNvPr id="18" name="node-15"/>
          <p:cNvSpPr/>
          <p:nvPr/>
        </p:nvSpPr>
        <p:spPr>
          <a:xfrm>
            <a:off x="7406640" y="1143000"/>
            <a:ext cx="219456" cy="219456"/>
          </a:xfrm>
          <a:prstGeom prst="ellipse">
            <a:avLst/>
          </a:prstGeom>
          <a:solidFill>
            <a:srgbClr val="F28C28"/>
          </a:solidFill>
          <a:ln w="15875">
            <a:solidFill>
              <a:srgbClr val="F28C28"/>
            </a:solidFill>
            <a:prstDash val="solid"/>
          </a:ln>
        </p:spPr>
      </p:sp>
      <p:sp>
        <p:nvSpPr>
          <p:cNvPr id="19" name="node-16"/>
          <p:cNvSpPr/>
          <p:nvPr/>
        </p:nvSpPr>
        <p:spPr>
          <a:xfrm>
            <a:off x="8138160" y="731520"/>
            <a:ext cx="219456" cy="219456"/>
          </a:xfrm>
          <a:prstGeom prst="ellipse">
            <a:avLst/>
          </a:prstGeom>
          <a:solidFill>
            <a:srgbClr val="2E86C1"/>
          </a:solidFill>
          <a:ln w="15875">
            <a:solidFill>
              <a:srgbClr val="2E86C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Six parts, three jobs</a:t>
            </a:r>
            <a:endParaRPr lang="en-US" sz="3000" dirty="0"/>
          </a:p>
        </p:txBody>
      </p:sp>
      <p:sp>
        <p:nvSpPr>
          <p:cNvPr id="3" name="text-17"/>
          <p:cNvSpPr txBox="1"/>
          <p:nvPr/>
        </p:nvSpPr>
        <p:spPr>
          <a:xfrm>
            <a:off x="457200" y="960120"/>
            <a:ext cx="8229600" cy="3200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I sorted the six components by the job each one does. That grouping is the backbone of this deck.</a:t>
            </a:r>
            <a:endParaRPr lang="en-US" sz="1500" dirty="0"/>
          </a:p>
        </p:txBody>
      </p:sp>
      <p:sp>
        <p:nvSpPr>
          <p:cNvPr id="4" name="card-18"/>
          <p:cNvSpPr/>
          <p:nvPr/>
        </p:nvSpPr>
        <p:spPr>
          <a:xfrm>
            <a:off x="457200" y="1463040"/>
            <a:ext cx="2615184" cy="3108960"/>
          </a:xfrm>
          <a:prstGeom prst="roundRect">
            <a:avLst>
              <a:gd name="adj" fmla="val 2797"/>
            </a:avLst>
          </a:prstGeom>
          <a:solidFill>
            <a:srgbClr val="F2F4F8"/>
          </a:solidFill>
          <a:ln w="12700">
            <a:solidFill>
              <a:srgbClr val="F2F4F8"/>
            </a:solidFill>
            <a:prstDash val="solid"/>
          </a:ln>
        </p:spPr>
      </p:sp>
      <p:sp>
        <p:nvSpPr>
          <p:cNvPr id="5" name="node-19"/>
          <p:cNvSpPr/>
          <p:nvPr/>
        </p:nvSpPr>
        <p:spPr>
          <a:xfrm>
            <a:off x="640080" y="1627632"/>
            <a:ext cx="457200" cy="457200"/>
          </a:xfrm>
          <a:prstGeom prst="ellipse">
            <a:avLst/>
          </a:prstGeom>
          <a:solidFill>
            <a:srgbClr val="2E86C1"/>
          </a:solidFill>
          <a:ln w="15875">
            <a:solidFill>
              <a:srgbClr val="2E86C1"/>
            </a:solidFill>
            <a:prstDash val="solid"/>
          </a:ln>
        </p:spPr>
      </p:sp>
      <p:sp>
        <p:nvSpPr>
          <p:cNvPr id="6" name="text-20"/>
          <p:cNvSpPr txBox="1"/>
          <p:nvPr/>
        </p:nvSpPr>
        <p:spPr>
          <a:xfrm>
            <a:off x="640080" y="16276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21"/>
          <p:cNvSpPr txBox="1"/>
          <p:nvPr/>
        </p:nvSpPr>
        <p:spPr>
          <a:xfrm>
            <a:off x="1207008" y="1627632"/>
            <a:ext cx="173736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Structure</a:t>
            </a:r>
            <a:endParaRPr lang="en-US" sz="1800" dirty="0"/>
          </a:p>
        </p:txBody>
      </p:sp>
      <p:sp>
        <p:nvSpPr>
          <p:cNvPr id="8" name="text-22"/>
          <p:cNvSpPr txBox="1"/>
          <p:nvPr/>
        </p:nvSpPr>
        <p:spPr>
          <a:xfrm>
            <a:off x="1207008" y="1901952"/>
            <a:ext cx="1783080" cy="22860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Where data goes</a:t>
            </a:r>
            <a:endParaRPr lang="en-US" sz="1200" dirty="0"/>
          </a:p>
        </p:txBody>
      </p:sp>
      <p:sp>
        <p:nvSpPr>
          <p:cNvPr id="9" name="text-23"/>
          <p:cNvSpPr txBox="1"/>
          <p:nvPr/>
        </p:nvSpPr>
        <p:spPr>
          <a:xfrm>
            <a:off x="640080" y="2423160"/>
            <a:ext cx="2286000" cy="274320"/>
          </a:xfrm>
          <a:prstGeom prst="rect">
            <a:avLst/>
          </a:prstGeom>
          <a:noFill/>
          <a:ln/>
        </p:spPr>
        <p:txBody>
          <a:bodyPr wrap="square" lIns="0" tIns="0" rIns="0" bIns="0" rtlCol="0" anchor="t"/>
          <a:lstStyle/>
          <a:p>
            <a:pPr indent="0" marL="0">
              <a:buNone/>
            </a:pPr>
            <a:r>
              <a:rPr lang="en-US" sz="1500" b="1" dirty="0">
                <a:solidFill>
                  <a:srgbClr val="2E86C1"/>
                </a:solidFill>
                <a:latin typeface="Calibri" pitchFamily="34" charset="0"/>
                <a:ea typeface="Calibri" pitchFamily="34" charset="-122"/>
                <a:cs typeface="Calibri" pitchFamily="34" charset="-120"/>
              </a:rPr>
              <a:t>Layers</a:t>
            </a:r>
            <a:endParaRPr lang="en-US" sz="1500" dirty="0"/>
          </a:p>
        </p:txBody>
      </p:sp>
      <p:sp>
        <p:nvSpPr>
          <p:cNvPr id="10" name="text-24"/>
          <p:cNvSpPr txBox="1"/>
          <p:nvPr/>
        </p:nvSpPr>
        <p:spPr>
          <a:xfrm>
            <a:off x="640080" y="271576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Stages that transform the data</a:t>
            </a:r>
            <a:endParaRPr lang="en-US" sz="1300" dirty="0"/>
          </a:p>
        </p:txBody>
      </p:sp>
      <p:sp>
        <p:nvSpPr>
          <p:cNvPr id="11" name="text-25"/>
          <p:cNvSpPr txBox="1"/>
          <p:nvPr/>
        </p:nvSpPr>
        <p:spPr>
          <a:xfrm>
            <a:off x="640080" y="3474720"/>
            <a:ext cx="2286000" cy="274320"/>
          </a:xfrm>
          <a:prstGeom prst="rect">
            <a:avLst/>
          </a:prstGeom>
          <a:noFill/>
          <a:ln/>
        </p:spPr>
        <p:txBody>
          <a:bodyPr wrap="square" lIns="0" tIns="0" rIns="0" bIns="0" rtlCol="0" anchor="t"/>
          <a:lstStyle/>
          <a:p>
            <a:pPr indent="0" marL="0">
              <a:buNone/>
            </a:pPr>
            <a:r>
              <a:rPr lang="en-US" sz="1500" b="1" dirty="0">
                <a:solidFill>
                  <a:srgbClr val="2E86C1"/>
                </a:solidFill>
                <a:latin typeface="Calibri" pitchFamily="34" charset="0"/>
                <a:ea typeface="Calibri" pitchFamily="34" charset="-122"/>
                <a:cs typeface="Calibri" pitchFamily="34" charset="-120"/>
              </a:rPr>
              <a:t>Neurons</a:t>
            </a:r>
            <a:endParaRPr lang="en-US" sz="1500" dirty="0"/>
          </a:p>
        </p:txBody>
      </p:sp>
      <p:sp>
        <p:nvSpPr>
          <p:cNvPr id="12" name="text-26"/>
          <p:cNvSpPr txBox="1"/>
          <p:nvPr/>
        </p:nvSpPr>
        <p:spPr>
          <a:xfrm>
            <a:off x="640080" y="376732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Units that each do one small calculation</a:t>
            </a:r>
            <a:endParaRPr lang="en-US" sz="1300" dirty="0"/>
          </a:p>
        </p:txBody>
      </p:sp>
      <p:sp>
        <p:nvSpPr>
          <p:cNvPr id="13" name="card-27"/>
          <p:cNvSpPr/>
          <p:nvPr/>
        </p:nvSpPr>
        <p:spPr>
          <a:xfrm>
            <a:off x="3273552" y="1463040"/>
            <a:ext cx="2615184" cy="3108960"/>
          </a:xfrm>
          <a:prstGeom prst="roundRect">
            <a:avLst>
              <a:gd name="adj" fmla="val 2797"/>
            </a:avLst>
          </a:prstGeom>
          <a:solidFill>
            <a:srgbClr val="F2F4F8"/>
          </a:solidFill>
          <a:ln w="12700">
            <a:solidFill>
              <a:srgbClr val="F2F4F8"/>
            </a:solidFill>
            <a:prstDash val="solid"/>
          </a:ln>
        </p:spPr>
      </p:sp>
      <p:sp>
        <p:nvSpPr>
          <p:cNvPr id="14" name="node-28"/>
          <p:cNvSpPr/>
          <p:nvPr/>
        </p:nvSpPr>
        <p:spPr>
          <a:xfrm>
            <a:off x="3456432" y="1627632"/>
            <a:ext cx="457200" cy="457200"/>
          </a:xfrm>
          <a:prstGeom prst="ellipse">
            <a:avLst/>
          </a:prstGeom>
          <a:solidFill>
            <a:srgbClr val="F28C28"/>
          </a:solidFill>
          <a:ln w="15875">
            <a:solidFill>
              <a:srgbClr val="F28C28"/>
            </a:solidFill>
            <a:prstDash val="solid"/>
          </a:ln>
        </p:spPr>
      </p:sp>
      <p:sp>
        <p:nvSpPr>
          <p:cNvPr id="15" name="text-29"/>
          <p:cNvSpPr txBox="1"/>
          <p:nvPr/>
        </p:nvSpPr>
        <p:spPr>
          <a:xfrm>
            <a:off x="3456432" y="16276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30"/>
          <p:cNvSpPr txBox="1"/>
          <p:nvPr/>
        </p:nvSpPr>
        <p:spPr>
          <a:xfrm>
            <a:off x="4023360" y="1627632"/>
            <a:ext cx="173736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Signal</a:t>
            </a:r>
            <a:endParaRPr lang="en-US" sz="1800" dirty="0"/>
          </a:p>
        </p:txBody>
      </p:sp>
      <p:sp>
        <p:nvSpPr>
          <p:cNvPr id="17" name="text-31"/>
          <p:cNvSpPr txBox="1"/>
          <p:nvPr/>
        </p:nvSpPr>
        <p:spPr>
          <a:xfrm>
            <a:off x="4023360" y="1901952"/>
            <a:ext cx="1783080" cy="22860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How data is shaped</a:t>
            </a:r>
            <a:endParaRPr lang="en-US" sz="1200" dirty="0"/>
          </a:p>
        </p:txBody>
      </p:sp>
      <p:sp>
        <p:nvSpPr>
          <p:cNvPr id="18" name="text-32"/>
          <p:cNvSpPr txBox="1"/>
          <p:nvPr/>
        </p:nvSpPr>
        <p:spPr>
          <a:xfrm>
            <a:off x="3456432" y="2423160"/>
            <a:ext cx="2286000" cy="274320"/>
          </a:xfrm>
          <a:prstGeom prst="rect">
            <a:avLst/>
          </a:prstGeom>
          <a:noFill/>
          <a:ln/>
        </p:spPr>
        <p:txBody>
          <a:bodyPr wrap="square" lIns="0" tIns="0" rIns="0" bIns="0" rtlCol="0" anchor="t"/>
          <a:lstStyle/>
          <a:p>
            <a:pPr indent="0" marL="0">
              <a:buNone/>
            </a:pPr>
            <a:r>
              <a:rPr lang="en-US" sz="1500" b="1" dirty="0">
                <a:solidFill>
                  <a:srgbClr val="F28C28"/>
                </a:solidFill>
                <a:latin typeface="Calibri" pitchFamily="34" charset="0"/>
                <a:ea typeface="Calibri" pitchFamily="34" charset="-122"/>
                <a:cs typeface="Calibri" pitchFamily="34" charset="-120"/>
              </a:rPr>
              <a:t>Weights and biases</a:t>
            </a:r>
            <a:endParaRPr lang="en-US" sz="1500" dirty="0"/>
          </a:p>
        </p:txBody>
      </p:sp>
      <p:sp>
        <p:nvSpPr>
          <p:cNvPr id="19" name="text-33"/>
          <p:cNvSpPr txBox="1"/>
          <p:nvPr/>
        </p:nvSpPr>
        <p:spPr>
          <a:xfrm>
            <a:off x="3456432" y="271576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Dials that set each input's influence</a:t>
            </a:r>
            <a:endParaRPr lang="en-US" sz="1300" dirty="0"/>
          </a:p>
        </p:txBody>
      </p:sp>
      <p:sp>
        <p:nvSpPr>
          <p:cNvPr id="20" name="text-34"/>
          <p:cNvSpPr txBox="1"/>
          <p:nvPr/>
        </p:nvSpPr>
        <p:spPr>
          <a:xfrm>
            <a:off x="3456432" y="3474720"/>
            <a:ext cx="2286000" cy="274320"/>
          </a:xfrm>
          <a:prstGeom prst="rect">
            <a:avLst/>
          </a:prstGeom>
          <a:noFill/>
          <a:ln/>
        </p:spPr>
        <p:txBody>
          <a:bodyPr wrap="square" lIns="0" tIns="0" rIns="0" bIns="0" rtlCol="0" anchor="t"/>
          <a:lstStyle/>
          <a:p>
            <a:pPr indent="0" marL="0">
              <a:buNone/>
            </a:pPr>
            <a:r>
              <a:rPr lang="en-US" sz="1500" b="1" dirty="0">
                <a:solidFill>
                  <a:srgbClr val="F28C28"/>
                </a:solidFill>
                <a:latin typeface="Calibri" pitchFamily="34" charset="0"/>
                <a:ea typeface="Calibri" pitchFamily="34" charset="-122"/>
                <a:cs typeface="Calibri" pitchFamily="34" charset="-120"/>
              </a:rPr>
              <a:t>Activation functions</a:t>
            </a:r>
            <a:endParaRPr lang="en-US" sz="1500" dirty="0"/>
          </a:p>
        </p:txBody>
      </p:sp>
      <p:sp>
        <p:nvSpPr>
          <p:cNvPr id="21" name="text-35"/>
          <p:cNvSpPr txBox="1"/>
          <p:nvPr/>
        </p:nvSpPr>
        <p:spPr>
          <a:xfrm>
            <a:off x="3456432" y="376732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Bends that let the network learn curves</a:t>
            </a:r>
            <a:endParaRPr lang="en-US" sz="1300" dirty="0"/>
          </a:p>
        </p:txBody>
      </p:sp>
      <p:sp>
        <p:nvSpPr>
          <p:cNvPr id="22" name="card-36"/>
          <p:cNvSpPr/>
          <p:nvPr/>
        </p:nvSpPr>
        <p:spPr>
          <a:xfrm>
            <a:off x="6089904" y="1463040"/>
            <a:ext cx="2615184" cy="3108960"/>
          </a:xfrm>
          <a:prstGeom prst="roundRect">
            <a:avLst>
              <a:gd name="adj" fmla="val 2797"/>
            </a:avLst>
          </a:prstGeom>
          <a:solidFill>
            <a:srgbClr val="F2F4F8"/>
          </a:solidFill>
          <a:ln w="12700">
            <a:solidFill>
              <a:srgbClr val="F2F4F8"/>
            </a:solidFill>
            <a:prstDash val="solid"/>
          </a:ln>
        </p:spPr>
      </p:sp>
      <p:sp>
        <p:nvSpPr>
          <p:cNvPr id="23" name="node-37"/>
          <p:cNvSpPr/>
          <p:nvPr/>
        </p:nvSpPr>
        <p:spPr>
          <a:xfrm>
            <a:off x="6272784" y="1627632"/>
            <a:ext cx="457200" cy="457200"/>
          </a:xfrm>
          <a:prstGeom prst="ellipse">
            <a:avLst/>
          </a:prstGeom>
          <a:solidFill>
            <a:srgbClr val="2A9D8F"/>
          </a:solidFill>
          <a:ln w="15875">
            <a:solidFill>
              <a:srgbClr val="2A9D8F"/>
            </a:solidFill>
            <a:prstDash val="solid"/>
          </a:ln>
        </p:spPr>
      </p:sp>
      <p:sp>
        <p:nvSpPr>
          <p:cNvPr id="24" name="text-38"/>
          <p:cNvSpPr txBox="1"/>
          <p:nvPr/>
        </p:nvSpPr>
        <p:spPr>
          <a:xfrm>
            <a:off x="6272784" y="16276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39"/>
          <p:cNvSpPr txBox="1"/>
          <p:nvPr/>
        </p:nvSpPr>
        <p:spPr>
          <a:xfrm>
            <a:off x="6839712" y="1627632"/>
            <a:ext cx="173736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Learning loop</a:t>
            </a:r>
            <a:endParaRPr lang="en-US" sz="1800" dirty="0"/>
          </a:p>
        </p:txBody>
      </p:sp>
      <p:sp>
        <p:nvSpPr>
          <p:cNvPr id="26" name="text-40"/>
          <p:cNvSpPr txBox="1"/>
          <p:nvPr/>
        </p:nvSpPr>
        <p:spPr>
          <a:xfrm>
            <a:off x="6839712" y="1901952"/>
            <a:ext cx="1783080" cy="22860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How the network improves</a:t>
            </a:r>
            <a:endParaRPr lang="en-US" sz="1200" dirty="0"/>
          </a:p>
        </p:txBody>
      </p:sp>
      <p:sp>
        <p:nvSpPr>
          <p:cNvPr id="27" name="text-41"/>
          <p:cNvSpPr txBox="1"/>
          <p:nvPr/>
        </p:nvSpPr>
        <p:spPr>
          <a:xfrm>
            <a:off x="6272784" y="2423160"/>
            <a:ext cx="2286000" cy="274320"/>
          </a:xfrm>
          <a:prstGeom prst="rect">
            <a:avLst/>
          </a:prstGeom>
          <a:noFill/>
          <a:ln/>
        </p:spPr>
        <p:txBody>
          <a:bodyPr wrap="square" lIns="0" tIns="0" rIns="0" bIns="0" rtlCol="0" anchor="t"/>
          <a:lstStyle/>
          <a:p>
            <a:pPr indent="0" marL="0">
              <a:buNone/>
            </a:pPr>
            <a:r>
              <a:rPr lang="en-US" sz="1500" b="1" dirty="0">
                <a:solidFill>
                  <a:srgbClr val="2A9D8F"/>
                </a:solidFill>
                <a:latin typeface="Calibri" pitchFamily="34" charset="0"/>
                <a:ea typeface="Calibri" pitchFamily="34" charset="-122"/>
                <a:cs typeface="Calibri" pitchFamily="34" charset="-120"/>
              </a:rPr>
              <a:t>Loss function</a:t>
            </a:r>
            <a:endParaRPr lang="en-US" sz="1500" dirty="0"/>
          </a:p>
        </p:txBody>
      </p:sp>
      <p:sp>
        <p:nvSpPr>
          <p:cNvPr id="28" name="text-42"/>
          <p:cNvSpPr txBox="1"/>
          <p:nvPr/>
        </p:nvSpPr>
        <p:spPr>
          <a:xfrm>
            <a:off x="6272784" y="271576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Scores how far off a prediction is</a:t>
            </a:r>
            <a:endParaRPr lang="en-US" sz="1300" dirty="0"/>
          </a:p>
        </p:txBody>
      </p:sp>
      <p:sp>
        <p:nvSpPr>
          <p:cNvPr id="29" name="text-43"/>
          <p:cNvSpPr txBox="1"/>
          <p:nvPr/>
        </p:nvSpPr>
        <p:spPr>
          <a:xfrm>
            <a:off x="6272784" y="3474720"/>
            <a:ext cx="2286000" cy="274320"/>
          </a:xfrm>
          <a:prstGeom prst="rect">
            <a:avLst/>
          </a:prstGeom>
          <a:noFill/>
          <a:ln/>
        </p:spPr>
        <p:txBody>
          <a:bodyPr wrap="square" lIns="0" tIns="0" rIns="0" bIns="0" rtlCol="0" anchor="t"/>
          <a:lstStyle/>
          <a:p>
            <a:pPr indent="0" marL="0">
              <a:buNone/>
            </a:pPr>
            <a:r>
              <a:rPr lang="en-US" sz="1500" b="1" dirty="0">
                <a:solidFill>
                  <a:srgbClr val="2A9D8F"/>
                </a:solidFill>
                <a:latin typeface="Calibri" pitchFamily="34" charset="0"/>
                <a:ea typeface="Calibri" pitchFamily="34" charset="-122"/>
                <a:cs typeface="Calibri" pitchFamily="34" charset="-120"/>
              </a:rPr>
              <a:t>Optimizer</a:t>
            </a:r>
            <a:endParaRPr lang="en-US" sz="1500" dirty="0"/>
          </a:p>
        </p:txBody>
      </p:sp>
      <p:sp>
        <p:nvSpPr>
          <p:cNvPr id="30" name="text-44"/>
          <p:cNvSpPr txBox="1"/>
          <p:nvPr/>
        </p:nvSpPr>
        <p:spPr>
          <a:xfrm>
            <a:off x="6272784" y="3767328"/>
            <a:ext cx="22860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Rule that nudges weights to lower the loss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data flows through the network</a:t>
            </a:r>
            <a:endParaRPr lang="en-US" sz="3000" dirty="0"/>
          </a:p>
        </p:txBody>
      </p:sp>
      <p:sp>
        <p:nvSpPr>
          <p:cNvPr id="3" name="edge-45"/>
          <p:cNvSpPr/>
          <p:nvPr/>
        </p:nvSpPr>
        <p:spPr>
          <a:xfrm flipV="1">
            <a:off x="1014984" y="1472184"/>
            <a:ext cx="1463040" cy="640080"/>
          </a:xfrm>
          <a:prstGeom prst="line">
            <a:avLst/>
          </a:prstGeom>
          <a:noFill/>
          <a:ln w="9525">
            <a:solidFill>
              <a:srgbClr val="C3C9D9"/>
            </a:solidFill>
            <a:prstDash val="solid"/>
          </a:ln>
        </p:spPr>
      </p:sp>
      <p:sp>
        <p:nvSpPr>
          <p:cNvPr id="4" name="edge-46"/>
          <p:cNvSpPr/>
          <p:nvPr/>
        </p:nvSpPr>
        <p:spPr>
          <a:xfrm>
            <a:off x="1014984" y="2112264"/>
            <a:ext cx="1463040" cy="914"/>
          </a:xfrm>
          <a:prstGeom prst="line">
            <a:avLst/>
          </a:prstGeom>
          <a:noFill/>
          <a:ln w="9525">
            <a:solidFill>
              <a:srgbClr val="C3C9D9"/>
            </a:solidFill>
            <a:prstDash val="solid"/>
          </a:ln>
        </p:spPr>
      </p:sp>
      <p:sp>
        <p:nvSpPr>
          <p:cNvPr id="5" name="edge-47"/>
          <p:cNvSpPr/>
          <p:nvPr/>
        </p:nvSpPr>
        <p:spPr>
          <a:xfrm>
            <a:off x="1014984" y="2112264"/>
            <a:ext cx="1463040" cy="640080"/>
          </a:xfrm>
          <a:prstGeom prst="line">
            <a:avLst/>
          </a:prstGeom>
          <a:noFill/>
          <a:ln w="9525">
            <a:solidFill>
              <a:srgbClr val="C3C9D9"/>
            </a:solidFill>
            <a:prstDash val="solid"/>
          </a:ln>
        </p:spPr>
      </p:sp>
      <p:sp>
        <p:nvSpPr>
          <p:cNvPr id="6" name="edge-48"/>
          <p:cNvSpPr/>
          <p:nvPr/>
        </p:nvSpPr>
        <p:spPr>
          <a:xfrm>
            <a:off x="1014984" y="2112264"/>
            <a:ext cx="1463040" cy="1280160"/>
          </a:xfrm>
          <a:prstGeom prst="line">
            <a:avLst/>
          </a:prstGeom>
          <a:noFill/>
          <a:ln w="9525">
            <a:solidFill>
              <a:srgbClr val="C3C9D9"/>
            </a:solidFill>
            <a:prstDash val="solid"/>
          </a:ln>
        </p:spPr>
      </p:sp>
      <p:sp>
        <p:nvSpPr>
          <p:cNvPr id="7" name="edge-49"/>
          <p:cNvSpPr/>
          <p:nvPr/>
        </p:nvSpPr>
        <p:spPr>
          <a:xfrm flipV="1">
            <a:off x="1014984" y="1472184"/>
            <a:ext cx="1463040" cy="1280160"/>
          </a:xfrm>
          <a:prstGeom prst="line">
            <a:avLst/>
          </a:prstGeom>
          <a:noFill/>
          <a:ln w="9525">
            <a:solidFill>
              <a:srgbClr val="C3C9D9"/>
            </a:solidFill>
            <a:prstDash val="solid"/>
          </a:ln>
        </p:spPr>
      </p:sp>
      <p:sp>
        <p:nvSpPr>
          <p:cNvPr id="8" name="edge-50"/>
          <p:cNvSpPr/>
          <p:nvPr/>
        </p:nvSpPr>
        <p:spPr>
          <a:xfrm flipV="1">
            <a:off x="1014984" y="2112264"/>
            <a:ext cx="1463040" cy="640080"/>
          </a:xfrm>
          <a:prstGeom prst="line">
            <a:avLst/>
          </a:prstGeom>
          <a:noFill/>
          <a:ln w="9525">
            <a:solidFill>
              <a:srgbClr val="C3C9D9"/>
            </a:solidFill>
            <a:prstDash val="solid"/>
          </a:ln>
        </p:spPr>
      </p:sp>
      <p:sp>
        <p:nvSpPr>
          <p:cNvPr id="9" name="edge-51"/>
          <p:cNvSpPr/>
          <p:nvPr/>
        </p:nvSpPr>
        <p:spPr>
          <a:xfrm>
            <a:off x="1014984" y="2752344"/>
            <a:ext cx="1463040" cy="914"/>
          </a:xfrm>
          <a:prstGeom prst="line">
            <a:avLst/>
          </a:prstGeom>
          <a:noFill/>
          <a:ln w="9525">
            <a:solidFill>
              <a:srgbClr val="C3C9D9"/>
            </a:solidFill>
            <a:prstDash val="solid"/>
          </a:ln>
        </p:spPr>
      </p:sp>
      <p:sp>
        <p:nvSpPr>
          <p:cNvPr id="10" name="edge-52"/>
          <p:cNvSpPr/>
          <p:nvPr/>
        </p:nvSpPr>
        <p:spPr>
          <a:xfrm>
            <a:off x="1014984" y="2752344"/>
            <a:ext cx="1463040" cy="640080"/>
          </a:xfrm>
          <a:prstGeom prst="line">
            <a:avLst/>
          </a:prstGeom>
          <a:noFill/>
          <a:ln w="9525">
            <a:solidFill>
              <a:srgbClr val="C3C9D9"/>
            </a:solidFill>
            <a:prstDash val="solid"/>
          </a:ln>
        </p:spPr>
      </p:sp>
      <p:sp>
        <p:nvSpPr>
          <p:cNvPr id="11" name="edge-53"/>
          <p:cNvSpPr/>
          <p:nvPr/>
        </p:nvSpPr>
        <p:spPr>
          <a:xfrm>
            <a:off x="2478024" y="1472184"/>
            <a:ext cx="1463040" cy="320040"/>
          </a:xfrm>
          <a:prstGeom prst="line">
            <a:avLst/>
          </a:prstGeom>
          <a:noFill/>
          <a:ln w="9525">
            <a:solidFill>
              <a:srgbClr val="C3C9D9"/>
            </a:solidFill>
            <a:prstDash val="solid"/>
          </a:ln>
        </p:spPr>
      </p:sp>
      <p:sp>
        <p:nvSpPr>
          <p:cNvPr id="12" name="edge-54"/>
          <p:cNvSpPr/>
          <p:nvPr/>
        </p:nvSpPr>
        <p:spPr>
          <a:xfrm>
            <a:off x="2478024" y="1472184"/>
            <a:ext cx="1463040" cy="960120"/>
          </a:xfrm>
          <a:prstGeom prst="line">
            <a:avLst/>
          </a:prstGeom>
          <a:noFill/>
          <a:ln w="9525">
            <a:solidFill>
              <a:srgbClr val="C3C9D9"/>
            </a:solidFill>
            <a:prstDash val="solid"/>
          </a:ln>
        </p:spPr>
      </p:sp>
      <p:sp>
        <p:nvSpPr>
          <p:cNvPr id="13" name="edge-55"/>
          <p:cNvSpPr/>
          <p:nvPr/>
        </p:nvSpPr>
        <p:spPr>
          <a:xfrm>
            <a:off x="2478024" y="1472184"/>
            <a:ext cx="1463040" cy="1600200"/>
          </a:xfrm>
          <a:prstGeom prst="line">
            <a:avLst/>
          </a:prstGeom>
          <a:noFill/>
          <a:ln w="9525">
            <a:solidFill>
              <a:srgbClr val="C3C9D9"/>
            </a:solidFill>
            <a:prstDash val="solid"/>
          </a:ln>
        </p:spPr>
      </p:sp>
      <p:sp>
        <p:nvSpPr>
          <p:cNvPr id="14" name="edge-56"/>
          <p:cNvSpPr/>
          <p:nvPr/>
        </p:nvSpPr>
        <p:spPr>
          <a:xfrm flipV="1">
            <a:off x="2478024" y="1792224"/>
            <a:ext cx="1463040" cy="320040"/>
          </a:xfrm>
          <a:prstGeom prst="line">
            <a:avLst/>
          </a:prstGeom>
          <a:noFill/>
          <a:ln w="9525">
            <a:solidFill>
              <a:srgbClr val="C3C9D9"/>
            </a:solidFill>
            <a:prstDash val="solid"/>
          </a:ln>
        </p:spPr>
      </p:sp>
      <p:sp>
        <p:nvSpPr>
          <p:cNvPr id="15" name="edge-57"/>
          <p:cNvSpPr/>
          <p:nvPr/>
        </p:nvSpPr>
        <p:spPr>
          <a:xfrm>
            <a:off x="2478024" y="2112264"/>
            <a:ext cx="1463040" cy="320040"/>
          </a:xfrm>
          <a:prstGeom prst="line">
            <a:avLst/>
          </a:prstGeom>
          <a:noFill/>
          <a:ln w="9525">
            <a:solidFill>
              <a:srgbClr val="C3C9D9"/>
            </a:solidFill>
            <a:prstDash val="solid"/>
          </a:ln>
        </p:spPr>
      </p:sp>
      <p:sp>
        <p:nvSpPr>
          <p:cNvPr id="16" name="edge-58"/>
          <p:cNvSpPr/>
          <p:nvPr/>
        </p:nvSpPr>
        <p:spPr>
          <a:xfrm>
            <a:off x="2478024" y="2112264"/>
            <a:ext cx="1463040" cy="960120"/>
          </a:xfrm>
          <a:prstGeom prst="line">
            <a:avLst/>
          </a:prstGeom>
          <a:noFill/>
          <a:ln w="9525">
            <a:solidFill>
              <a:srgbClr val="C3C9D9"/>
            </a:solidFill>
            <a:prstDash val="solid"/>
          </a:ln>
        </p:spPr>
      </p:sp>
      <p:sp>
        <p:nvSpPr>
          <p:cNvPr id="17" name="edge-59"/>
          <p:cNvSpPr/>
          <p:nvPr/>
        </p:nvSpPr>
        <p:spPr>
          <a:xfrm flipV="1">
            <a:off x="2478024" y="1792224"/>
            <a:ext cx="1463040" cy="960120"/>
          </a:xfrm>
          <a:prstGeom prst="line">
            <a:avLst/>
          </a:prstGeom>
          <a:noFill/>
          <a:ln w="9525">
            <a:solidFill>
              <a:srgbClr val="C3C9D9"/>
            </a:solidFill>
            <a:prstDash val="solid"/>
          </a:ln>
        </p:spPr>
      </p:sp>
      <p:sp>
        <p:nvSpPr>
          <p:cNvPr id="18" name="edge-60"/>
          <p:cNvSpPr/>
          <p:nvPr/>
        </p:nvSpPr>
        <p:spPr>
          <a:xfrm flipV="1">
            <a:off x="2478024" y="2432304"/>
            <a:ext cx="1463040" cy="320040"/>
          </a:xfrm>
          <a:prstGeom prst="line">
            <a:avLst/>
          </a:prstGeom>
          <a:noFill/>
          <a:ln w="9525">
            <a:solidFill>
              <a:srgbClr val="C3C9D9"/>
            </a:solidFill>
            <a:prstDash val="solid"/>
          </a:ln>
        </p:spPr>
      </p:sp>
      <p:sp>
        <p:nvSpPr>
          <p:cNvPr id="19" name="edge-61"/>
          <p:cNvSpPr/>
          <p:nvPr/>
        </p:nvSpPr>
        <p:spPr>
          <a:xfrm>
            <a:off x="2478024" y="2752344"/>
            <a:ext cx="1463040" cy="320040"/>
          </a:xfrm>
          <a:prstGeom prst="line">
            <a:avLst/>
          </a:prstGeom>
          <a:noFill/>
          <a:ln w="9525">
            <a:solidFill>
              <a:srgbClr val="C3C9D9"/>
            </a:solidFill>
            <a:prstDash val="solid"/>
          </a:ln>
        </p:spPr>
      </p:sp>
      <p:sp>
        <p:nvSpPr>
          <p:cNvPr id="20" name="edge-62"/>
          <p:cNvSpPr/>
          <p:nvPr/>
        </p:nvSpPr>
        <p:spPr>
          <a:xfrm flipV="1">
            <a:off x="2478024" y="1792224"/>
            <a:ext cx="1463040" cy="1600200"/>
          </a:xfrm>
          <a:prstGeom prst="line">
            <a:avLst/>
          </a:prstGeom>
          <a:noFill/>
          <a:ln w="9525">
            <a:solidFill>
              <a:srgbClr val="C3C9D9"/>
            </a:solidFill>
            <a:prstDash val="solid"/>
          </a:ln>
        </p:spPr>
      </p:sp>
      <p:sp>
        <p:nvSpPr>
          <p:cNvPr id="21" name="edge-63"/>
          <p:cNvSpPr/>
          <p:nvPr/>
        </p:nvSpPr>
        <p:spPr>
          <a:xfrm flipV="1">
            <a:off x="2478024" y="2432304"/>
            <a:ext cx="1463040" cy="960120"/>
          </a:xfrm>
          <a:prstGeom prst="line">
            <a:avLst/>
          </a:prstGeom>
          <a:noFill/>
          <a:ln w="9525">
            <a:solidFill>
              <a:srgbClr val="C3C9D9"/>
            </a:solidFill>
            <a:prstDash val="solid"/>
          </a:ln>
        </p:spPr>
      </p:sp>
      <p:sp>
        <p:nvSpPr>
          <p:cNvPr id="22" name="edge-64"/>
          <p:cNvSpPr/>
          <p:nvPr/>
        </p:nvSpPr>
        <p:spPr>
          <a:xfrm flipV="1">
            <a:off x="2478024" y="3072384"/>
            <a:ext cx="1463040" cy="320040"/>
          </a:xfrm>
          <a:prstGeom prst="line">
            <a:avLst/>
          </a:prstGeom>
          <a:noFill/>
          <a:ln w="9525">
            <a:solidFill>
              <a:srgbClr val="C3C9D9"/>
            </a:solidFill>
            <a:prstDash val="solid"/>
          </a:ln>
        </p:spPr>
      </p:sp>
      <p:sp>
        <p:nvSpPr>
          <p:cNvPr id="23" name="edge-65"/>
          <p:cNvSpPr/>
          <p:nvPr/>
        </p:nvSpPr>
        <p:spPr>
          <a:xfrm>
            <a:off x="3941064" y="1792224"/>
            <a:ext cx="1463040" cy="640080"/>
          </a:xfrm>
          <a:prstGeom prst="line">
            <a:avLst/>
          </a:prstGeom>
          <a:noFill/>
          <a:ln w="9525">
            <a:solidFill>
              <a:srgbClr val="C3C9D9"/>
            </a:solidFill>
            <a:prstDash val="solid"/>
          </a:ln>
        </p:spPr>
      </p:sp>
      <p:sp>
        <p:nvSpPr>
          <p:cNvPr id="24" name="edge-66"/>
          <p:cNvSpPr/>
          <p:nvPr/>
        </p:nvSpPr>
        <p:spPr>
          <a:xfrm>
            <a:off x="3941064" y="2432304"/>
            <a:ext cx="1463040" cy="914"/>
          </a:xfrm>
          <a:prstGeom prst="line">
            <a:avLst/>
          </a:prstGeom>
          <a:noFill/>
          <a:ln w="9525">
            <a:solidFill>
              <a:srgbClr val="C3C9D9"/>
            </a:solidFill>
            <a:prstDash val="solid"/>
          </a:ln>
        </p:spPr>
      </p:sp>
      <p:sp>
        <p:nvSpPr>
          <p:cNvPr id="25" name="edge-67"/>
          <p:cNvSpPr/>
          <p:nvPr/>
        </p:nvSpPr>
        <p:spPr>
          <a:xfrm flipV="1">
            <a:off x="3941064" y="2432304"/>
            <a:ext cx="1463040" cy="640080"/>
          </a:xfrm>
          <a:prstGeom prst="line">
            <a:avLst/>
          </a:prstGeom>
          <a:noFill/>
          <a:ln w="9525">
            <a:solidFill>
              <a:srgbClr val="C3C9D9"/>
            </a:solidFill>
            <a:prstDash val="solid"/>
          </a:ln>
        </p:spPr>
      </p:sp>
      <p:sp>
        <p:nvSpPr>
          <p:cNvPr id="26" name="node-68"/>
          <p:cNvSpPr/>
          <p:nvPr/>
        </p:nvSpPr>
        <p:spPr>
          <a:xfrm>
            <a:off x="822960" y="1920240"/>
            <a:ext cx="384048" cy="384048"/>
          </a:xfrm>
          <a:prstGeom prst="ellipse">
            <a:avLst/>
          </a:prstGeom>
          <a:solidFill>
            <a:srgbClr val="2E86C1"/>
          </a:solidFill>
          <a:ln w="15875">
            <a:solidFill>
              <a:srgbClr val="2E86C1"/>
            </a:solidFill>
            <a:prstDash val="solid"/>
          </a:ln>
        </p:spPr>
      </p:sp>
      <p:sp>
        <p:nvSpPr>
          <p:cNvPr id="27" name="node-69"/>
          <p:cNvSpPr/>
          <p:nvPr/>
        </p:nvSpPr>
        <p:spPr>
          <a:xfrm>
            <a:off x="822960" y="2560320"/>
            <a:ext cx="384048" cy="384048"/>
          </a:xfrm>
          <a:prstGeom prst="ellipse">
            <a:avLst/>
          </a:prstGeom>
          <a:solidFill>
            <a:srgbClr val="2E86C1"/>
          </a:solidFill>
          <a:ln w="15875">
            <a:solidFill>
              <a:srgbClr val="2E86C1"/>
            </a:solidFill>
            <a:prstDash val="solid"/>
          </a:ln>
        </p:spPr>
      </p:sp>
      <p:sp>
        <p:nvSpPr>
          <p:cNvPr id="28" name="text-70"/>
          <p:cNvSpPr txBox="1"/>
          <p:nvPr/>
        </p:nvSpPr>
        <p:spPr>
          <a:xfrm>
            <a:off x="320040" y="914400"/>
            <a:ext cx="1371600" cy="22860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Input layer</a:t>
            </a:r>
            <a:endParaRPr lang="en-US" sz="1200" dirty="0"/>
          </a:p>
        </p:txBody>
      </p:sp>
      <p:sp>
        <p:nvSpPr>
          <p:cNvPr id="29" name="text-71"/>
          <p:cNvSpPr txBox="1"/>
          <p:nvPr/>
        </p:nvSpPr>
        <p:spPr>
          <a:xfrm>
            <a:off x="320040" y="3657600"/>
            <a:ext cx="1371600" cy="22860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2 features: x1, x2</a:t>
            </a:r>
            <a:endParaRPr lang="en-US" sz="1100" dirty="0"/>
          </a:p>
        </p:txBody>
      </p:sp>
      <p:sp>
        <p:nvSpPr>
          <p:cNvPr id="30" name="node-72"/>
          <p:cNvSpPr/>
          <p:nvPr/>
        </p:nvSpPr>
        <p:spPr>
          <a:xfrm>
            <a:off x="2286000" y="1280160"/>
            <a:ext cx="384048" cy="384048"/>
          </a:xfrm>
          <a:prstGeom prst="ellipse">
            <a:avLst/>
          </a:prstGeom>
          <a:solidFill>
            <a:srgbClr val="F28C28"/>
          </a:solidFill>
          <a:ln w="15875">
            <a:solidFill>
              <a:srgbClr val="F28C28"/>
            </a:solidFill>
            <a:prstDash val="solid"/>
          </a:ln>
        </p:spPr>
      </p:sp>
      <p:sp>
        <p:nvSpPr>
          <p:cNvPr id="31" name="node-73"/>
          <p:cNvSpPr/>
          <p:nvPr/>
        </p:nvSpPr>
        <p:spPr>
          <a:xfrm>
            <a:off x="2286000" y="1920240"/>
            <a:ext cx="384048" cy="384048"/>
          </a:xfrm>
          <a:prstGeom prst="ellipse">
            <a:avLst/>
          </a:prstGeom>
          <a:solidFill>
            <a:srgbClr val="F28C28"/>
          </a:solidFill>
          <a:ln w="15875">
            <a:solidFill>
              <a:srgbClr val="F28C28"/>
            </a:solidFill>
            <a:prstDash val="solid"/>
          </a:ln>
        </p:spPr>
      </p:sp>
      <p:sp>
        <p:nvSpPr>
          <p:cNvPr id="32" name="node-74"/>
          <p:cNvSpPr/>
          <p:nvPr/>
        </p:nvSpPr>
        <p:spPr>
          <a:xfrm>
            <a:off x="2286000" y="2560320"/>
            <a:ext cx="384048" cy="384048"/>
          </a:xfrm>
          <a:prstGeom prst="ellipse">
            <a:avLst/>
          </a:prstGeom>
          <a:solidFill>
            <a:srgbClr val="F28C28"/>
          </a:solidFill>
          <a:ln w="15875">
            <a:solidFill>
              <a:srgbClr val="F28C28"/>
            </a:solidFill>
            <a:prstDash val="solid"/>
          </a:ln>
        </p:spPr>
      </p:sp>
      <p:sp>
        <p:nvSpPr>
          <p:cNvPr id="33" name="node-75"/>
          <p:cNvSpPr/>
          <p:nvPr/>
        </p:nvSpPr>
        <p:spPr>
          <a:xfrm>
            <a:off x="2286000" y="3200400"/>
            <a:ext cx="384048" cy="384048"/>
          </a:xfrm>
          <a:prstGeom prst="ellipse">
            <a:avLst/>
          </a:prstGeom>
          <a:solidFill>
            <a:srgbClr val="F28C28"/>
          </a:solidFill>
          <a:ln w="15875">
            <a:solidFill>
              <a:srgbClr val="F28C28"/>
            </a:solidFill>
            <a:prstDash val="solid"/>
          </a:ln>
        </p:spPr>
      </p:sp>
      <p:sp>
        <p:nvSpPr>
          <p:cNvPr id="34" name="text-76"/>
          <p:cNvSpPr txBox="1"/>
          <p:nvPr/>
        </p:nvSpPr>
        <p:spPr>
          <a:xfrm>
            <a:off x="1783080" y="914400"/>
            <a:ext cx="1371600" cy="22860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Hidden layer 1</a:t>
            </a:r>
            <a:endParaRPr lang="en-US" sz="1200" dirty="0"/>
          </a:p>
        </p:txBody>
      </p:sp>
      <p:sp>
        <p:nvSpPr>
          <p:cNvPr id="35" name="text-77"/>
          <p:cNvSpPr txBox="1"/>
          <p:nvPr/>
        </p:nvSpPr>
        <p:spPr>
          <a:xfrm>
            <a:off x="1783080" y="3657600"/>
            <a:ext cx="1371600" cy="22860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4 neurons</a:t>
            </a:r>
            <a:endParaRPr lang="en-US" sz="1100" dirty="0"/>
          </a:p>
        </p:txBody>
      </p:sp>
      <p:sp>
        <p:nvSpPr>
          <p:cNvPr id="36" name="node-78"/>
          <p:cNvSpPr/>
          <p:nvPr/>
        </p:nvSpPr>
        <p:spPr>
          <a:xfrm>
            <a:off x="3749040" y="1600200"/>
            <a:ext cx="384048" cy="384048"/>
          </a:xfrm>
          <a:prstGeom prst="ellipse">
            <a:avLst/>
          </a:prstGeom>
          <a:solidFill>
            <a:srgbClr val="F28C28"/>
          </a:solidFill>
          <a:ln w="15875">
            <a:solidFill>
              <a:srgbClr val="F28C28"/>
            </a:solidFill>
            <a:prstDash val="solid"/>
          </a:ln>
        </p:spPr>
      </p:sp>
      <p:sp>
        <p:nvSpPr>
          <p:cNvPr id="37" name="node-79"/>
          <p:cNvSpPr/>
          <p:nvPr/>
        </p:nvSpPr>
        <p:spPr>
          <a:xfrm>
            <a:off x="3749040" y="2240280"/>
            <a:ext cx="384048" cy="384048"/>
          </a:xfrm>
          <a:prstGeom prst="ellipse">
            <a:avLst/>
          </a:prstGeom>
          <a:solidFill>
            <a:srgbClr val="F28C28"/>
          </a:solidFill>
          <a:ln w="15875">
            <a:solidFill>
              <a:srgbClr val="F28C28"/>
            </a:solidFill>
            <a:prstDash val="solid"/>
          </a:ln>
        </p:spPr>
      </p:sp>
      <p:sp>
        <p:nvSpPr>
          <p:cNvPr id="38" name="node-80"/>
          <p:cNvSpPr/>
          <p:nvPr/>
        </p:nvSpPr>
        <p:spPr>
          <a:xfrm>
            <a:off x="3749040" y="2880360"/>
            <a:ext cx="384048" cy="384048"/>
          </a:xfrm>
          <a:prstGeom prst="ellipse">
            <a:avLst/>
          </a:prstGeom>
          <a:solidFill>
            <a:srgbClr val="F28C28"/>
          </a:solidFill>
          <a:ln w="15875">
            <a:solidFill>
              <a:srgbClr val="F28C28"/>
            </a:solidFill>
            <a:prstDash val="solid"/>
          </a:ln>
        </p:spPr>
      </p:sp>
      <p:sp>
        <p:nvSpPr>
          <p:cNvPr id="39" name="text-81"/>
          <p:cNvSpPr txBox="1"/>
          <p:nvPr/>
        </p:nvSpPr>
        <p:spPr>
          <a:xfrm>
            <a:off x="3246120" y="914400"/>
            <a:ext cx="1371600" cy="22860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Hidden layer 2</a:t>
            </a:r>
            <a:endParaRPr lang="en-US" sz="1200" dirty="0"/>
          </a:p>
        </p:txBody>
      </p:sp>
      <p:sp>
        <p:nvSpPr>
          <p:cNvPr id="40" name="text-82"/>
          <p:cNvSpPr txBox="1"/>
          <p:nvPr/>
        </p:nvSpPr>
        <p:spPr>
          <a:xfrm>
            <a:off x="3246120" y="3657600"/>
            <a:ext cx="1371600" cy="22860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3 neurons</a:t>
            </a:r>
            <a:endParaRPr lang="en-US" sz="1100" dirty="0"/>
          </a:p>
        </p:txBody>
      </p:sp>
      <p:sp>
        <p:nvSpPr>
          <p:cNvPr id="41" name="node-83"/>
          <p:cNvSpPr/>
          <p:nvPr/>
        </p:nvSpPr>
        <p:spPr>
          <a:xfrm>
            <a:off x="5212080" y="2240280"/>
            <a:ext cx="384048" cy="384048"/>
          </a:xfrm>
          <a:prstGeom prst="ellipse">
            <a:avLst/>
          </a:prstGeom>
          <a:solidFill>
            <a:srgbClr val="2A9D8F"/>
          </a:solidFill>
          <a:ln w="15875">
            <a:solidFill>
              <a:srgbClr val="2A9D8F"/>
            </a:solidFill>
            <a:prstDash val="solid"/>
          </a:ln>
        </p:spPr>
      </p:sp>
      <p:sp>
        <p:nvSpPr>
          <p:cNvPr id="42" name="text-84"/>
          <p:cNvSpPr txBox="1"/>
          <p:nvPr/>
        </p:nvSpPr>
        <p:spPr>
          <a:xfrm>
            <a:off x="4709160" y="914400"/>
            <a:ext cx="1371600" cy="22860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Output layer</a:t>
            </a:r>
            <a:endParaRPr lang="en-US" sz="1200" dirty="0"/>
          </a:p>
        </p:txBody>
      </p:sp>
      <p:sp>
        <p:nvSpPr>
          <p:cNvPr id="43" name="text-85"/>
          <p:cNvSpPr txBox="1"/>
          <p:nvPr/>
        </p:nvSpPr>
        <p:spPr>
          <a:xfrm>
            <a:off x="4709160" y="3657600"/>
            <a:ext cx="1371600" cy="22860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1 prediction</a:t>
            </a:r>
            <a:endParaRPr lang="en-US" sz="1100" dirty="0"/>
          </a:p>
        </p:txBody>
      </p:sp>
      <p:sp>
        <p:nvSpPr>
          <p:cNvPr id="44" name="arrow-86"/>
          <p:cNvSpPr/>
          <p:nvPr/>
        </p:nvSpPr>
        <p:spPr>
          <a:xfrm>
            <a:off x="822960" y="4041648"/>
            <a:ext cx="4773168" cy="914"/>
          </a:xfrm>
          <a:prstGeom prst="line">
            <a:avLst/>
          </a:prstGeom>
          <a:noFill/>
          <a:ln w="22225">
            <a:solidFill>
              <a:srgbClr val="1B1F3B"/>
            </a:solidFill>
            <a:prstDash val="solid"/>
            <a:tailEnd type="triangle"/>
          </a:ln>
        </p:spPr>
      </p:sp>
      <p:sp>
        <p:nvSpPr>
          <p:cNvPr id="45" name="text-87"/>
          <p:cNvSpPr txBox="1"/>
          <p:nvPr/>
        </p:nvSpPr>
        <p:spPr>
          <a:xfrm>
            <a:off x="457200" y="4114800"/>
            <a:ext cx="5486400" cy="256032"/>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Forward pass: weighted sums and activations, layer by layer</a:t>
            </a:r>
            <a:endParaRPr lang="en-US" sz="1200" dirty="0"/>
          </a:p>
        </p:txBody>
      </p:sp>
      <p:sp>
        <p:nvSpPr>
          <p:cNvPr id="46" name="card-88"/>
          <p:cNvSpPr/>
          <p:nvPr/>
        </p:nvSpPr>
        <p:spPr>
          <a:xfrm>
            <a:off x="6172200" y="914400"/>
            <a:ext cx="2514600" cy="3611880"/>
          </a:xfrm>
          <a:prstGeom prst="roundRect">
            <a:avLst>
              <a:gd name="adj" fmla="val 2909"/>
            </a:avLst>
          </a:prstGeom>
          <a:solidFill>
            <a:srgbClr val="EAF6F4"/>
          </a:solidFill>
          <a:ln w="12700">
            <a:solidFill>
              <a:srgbClr val="EAF6F4"/>
            </a:solidFill>
            <a:prstDash val="solid"/>
          </a:ln>
        </p:spPr>
      </p:sp>
      <p:sp>
        <p:nvSpPr>
          <p:cNvPr id="47" name="text-89"/>
          <p:cNvSpPr txBox="1"/>
          <p:nvPr/>
        </p:nvSpPr>
        <p:spPr>
          <a:xfrm>
            <a:off x="6263640" y="1005840"/>
            <a:ext cx="2331720" cy="274320"/>
          </a:xfrm>
          <a:prstGeom prst="rect">
            <a:avLst/>
          </a:prstGeom>
          <a:noFill/>
          <a:ln/>
        </p:spPr>
        <p:txBody>
          <a:bodyPr wrap="square" lIns="0" tIns="0" rIns="0" bIns="0" rtlCol="0" anchor="t"/>
          <a:lstStyle/>
          <a:p>
            <a:pPr algn="ctr" indent="0" marL="0">
              <a:buNone/>
            </a:pPr>
            <a:r>
              <a:rPr lang="en-US" sz="1300" b="1" dirty="0">
                <a:solidFill>
                  <a:srgbClr val="2A9D8F"/>
                </a:solidFill>
                <a:latin typeface="Calibri" pitchFamily="34" charset="0"/>
                <a:ea typeface="Calibri" pitchFamily="34" charset="-122"/>
                <a:cs typeface="Calibri" pitchFamily="34" charset="-120"/>
              </a:rPr>
              <a:t>Learning loop</a:t>
            </a:r>
            <a:endParaRPr lang="en-US" sz="1300" dirty="0"/>
          </a:p>
        </p:txBody>
      </p:sp>
      <p:sp>
        <p:nvSpPr>
          <p:cNvPr id="48" name="node-90"/>
          <p:cNvSpPr/>
          <p:nvPr/>
        </p:nvSpPr>
        <p:spPr>
          <a:xfrm>
            <a:off x="6309360" y="1371600"/>
            <a:ext cx="457200" cy="457200"/>
          </a:xfrm>
          <a:prstGeom prst="ellipse">
            <a:avLst/>
          </a:prstGeom>
          <a:solidFill>
            <a:srgbClr val="2A9D8F"/>
          </a:solidFill>
          <a:ln w="15875">
            <a:solidFill>
              <a:srgbClr val="2A9D8F"/>
            </a:solidFill>
            <a:prstDash val="solid"/>
          </a:ln>
        </p:spPr>
      </p:sp>
      <p:sp>
        <p:nvSpPr>
          <p:cNvPr id="49" name="text-91"/>
          <p:cNvSpPr txBox="1"/>
          <p:nvPr/>
        </p:nvSpPr>
        <p:spPr>
          <a:xfrm>
            <a:off x="630936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0" name="text-92"/>
          <p:cNvSpPr txBox="1"/>
          <p:nvPr/>
        </p:nvSpPr>
        <p:spPr>
          <a:xfrm>
            <a:off x="6858000" y="1353312"/>
            <a:ext cx="1737360" cy="71323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Loss: compare prediction with the true label</a:t>
            </a:r>
            <a:endParaRPr lang="en-US" sz="1200" dirty="0"/>
          </a:p>
        </p:txBody>
      </p:sp>
      <p:sp>
        <p:nvSpPr>
          <p:cNvPr id="51" name="node-93"/>
          <p:cNvSpPr/>
          <p:nvPr/>
        </p:nvSpPr>
        <p:spPr>
          <a:xfrm>
            <a:off x="6309360" y="2139696"/>
            <a:ext cx="457200" cy="457200"/>
          </a:xfrm>
          <a:prstGeom prst="ellipse">
            <a:avLst/>
          </a:prstGeom>
          <a:solidFill>
            <a:srgbClr val="2A9D8F"/>
          </a:solidFill>
          <a:ln w="15875">
            <a:solidFill>
              <a:srgbClr val="2A9D8F"/>
            </a:solidFill>
            <a:prstDash val="solid"/>
          </a:ln>
        </p:spPr>
      </p:sp>
      <p:sp>
        <p:nvSpPr>
          <p:cNvPr id="52" name="text-94"/>
          <p:cNvSpPr txBox="1"/>
          <p:nvPr/>
        </p:nvSpPr>
        <p:spPr>
          <a:xfrm>
            <a:off x="6309360" y="21396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3" name="text-95"/>
          <p:cNvSpPr txBox="1"/>
          <p:nvPr/>
        </p:nvSpPr>
        <p:spPr>
          <a:xfrm>
            <a:off x="6858000" y="2121408"/>
            <a:ext cx="1737360" cy="71323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Gradients: trace the error back through each weight</a:t>
            </a:r>
            <a:endParaRPr lang="en-US" sz="1200" dirty="0"/>
          </a:p>
        </p:txBody>
      </p:sp>
      <p:sp>
        <p:nvSpPr>
          <p:cNvPr id="54" name="node-96"/>
          <p:cNvSpPr/>
          <p:nvPr/>
        </p:nvSpPr>
        <p:spPr>
          <a:xfrm>
            <a:off x="6309360" y="2907792"/>
            <a:ext cx="457200" cy="457200"/>
          </a:xfrm>
          <a:prstGeom prst="ellipse">
            <a:avLst/>
          </a:prstGeom>
          <a:solidFill>
            <a:srgbClr val="2A9D8F"/>
          </a:solidFill>
          <a:ln w="15875">
            <a:solidFill>
              <a:srgbClr val="2A9D8F"/>
            </a:solidFill>
            <a:prstDash val="solid"/>
          </a:ln>
        </p:spPr>
      </p:sp>
      <p:sp>
        <p:nvSpPr>
          <p:cNvPr id="55" name="text-97"/>
          <p:cNvSpPr txBox="1"/>
          <p:nvPr/>
        </p:nvSpPr>
        <p:spPr>
          <a:xfrm>
            <a:off x="6309360" y="29077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6" name="text-98"/>
          <p:cNvSpPr txBox="1"/>
          <p:nvPr/>
        </p:nvSpPr>
        <p:spPr>
          <a:xfrm>
            <a:off x="6858000" y="2889504"/>
            <a:ext cx="1737360" cy="71323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Optimizer: nudge every weight a small step</a:t>
            </a:r>
            <a:endParaRPr lang="en-US" sz="1200" dirty="0"/>
          </a:p>
        </p:txBody>
      </p:sp>
      <p:sp>
        <p:nvSpPr>
          <p:cNvPr id="57" name="node-99"/>
          <p:cNvSpPr/>
          <p:nvPr/>
        </p:nvSpPr>
        <p:spPr>
          <a:xfrm>
            <a:off x="6309360" y="3675888"/>
            <a:ext cx="457200" cy="457200"/>
          </a:xfrm>
          <a:prstGeom prst="ellipse">
            <a:avLst/>
          </a:prstGeom>
          <a:solidFill>
            <a:srgbClr val="2A9D8F"/>
          </a:solidFill>
          <a:ln w="15875">
            <a:solidFill>
              <a:srgbClr val="2A9D8F"/>
            </a:solidFill>
            <a:prstDash val="solid"/>
          </a:ln>
        </p:spPr>
      </p:sp>
      <p:sp>
        <p:nvSpPr>
          <p:cNvPr id="58" name="text-100"/>
          <p:cNvSpPr txBox="1"/>
          <p:nvPr/>
        </p:nvSpPr>
        <p:spPr>
          <a:xfrm>
            <a:off x="6309360" y="3675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9" name="text-101"/>
          <p:cNvSpPr txBox="1"/>
          <p:nvPr/>
        </p:nvSpPr>
        <p:spPr>
          <a:xfrm>
            <a:off x="6858000" y="3657600"/>
            <a:ext cx="1737360" cy="71323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Repeat for the next batch</a:t>
            </a:r>
            <a:endParaRPr lang="en-US" sz="1200" dirty="0"/>
          </a:p>
        </p:txBody>
      </p:sp>
      <p:sp>
        <p:nvSpPr>
          <p:cNvPr id="60" name="arrow-102"/>
          <p:cNvSpPr/>
          <p:nvPr/>
        </p:nvSpPr>
        <p:spPr>
          <a:xfrm>
            <a:off x="5596128" y="2432304"/>
            <a:ext cx="576072" cy="914"/>
          </a:xfrm>
          <a:prstGeom prst="line">
            <a:avLst/>
          </a:prstGeom>
          <a:noFill/>
          <a:ln w="19050">
            <a:solidFill>
              <a:srgbClr val="2A9D8F"/>
            </a:solidFill>
            <a:prstDash val="solid"/>
            <a:tailEnd type="triangle"/>
          </a:ln>
        </p:spPr>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Layers: stages that build features</a:t>
            </a:r>
            <a:endParaRPr lang="en-US" sz="3000" dirty="0"/>
          </a:p>
        </p:txBody>
      </p:sp>
      <p:sp>
        <p:nvSpPr>
          <p:cNvPr id="3" name="node-103"/>
          <p:cNvSpPr/>
          <p:nvPr/>
        </p:nvSpPr>
        <p:spPr>
          <a:xfrm>
            <a:off x="457200" y="1097280"/>
            <a:ext cx="457200" cy="457200"/>
          </a:xfrm>
          <a:prstGeom prst="ellipse">
            <a:avLst/>
          </a:prstGeom>
          <a:solidFill>
            <a:srgbClr val="2E86C1"/>
          </a:solidFill>
          <a:ln w="15875">
            <a:solidFill>
              <a:srgbClr val="2E86C1"/>
            </a:solidFill>
            <a:prstDash val="solid"/>
          </a:ln>
        </p:spPr>
      </p:sp>
      <p:sp>
        <p:nvSpPr>
          <p:cNvPr id="4" name="text-104"/>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a:t>
            </a:r>
            <a:endParaRPr lang="en-US" sz="1300" dirty="0"/>
          </a:p>
        </p:txBody>
      </p:sp>
      <p:sp>
        <p:nvSpPr>
          <p:cNvPr id="5" name="text-105"/>
          <p:cNvSpPr txBox="1"/>
          <p:nvPr/>
        </p:nvSpPr>
        <p:spPr>
          <a:xfrm>
            <a:off x="1051560" y="1078992"/>
            <a:ext cx="3291840" cy="274320"/>
          </a:xfrm>
          <a:prstGeom prst="rect">
            <a:avLst/>
          </a:prstGeom>
          <a:noFill/>
          <a:ln/>
        </p:spPr>
        <p:txBody>
          <a:bodyPr wrap="square" lIns="0" tIns="0" rIns="0" bIns="0" rtlCol="0" anchor="t"/>
          <a:lstStyle/>
          <a:p>
            <a:pPr indent="0" marL="0">
              <a:buNone/>
            </a:pPr>
            <a:r>
              <a:rPr lang="en-US" sz="1600" b="1" dirty="0">
                <a:solidFill>
                  <a:srgbClr val="2E86C1"/>
                </a:solidFill>
                <a:latin typeface="Calibri" pitchFamily="34" charset="0"/>
                <a:ea typeface="Calibri" pitchFamily="34" charset="-122"/>
                <a:cs typeface="Calibri" pitchFamily="34" charset="-120"/>
              </a:rPr>
              <a:t>Input layer</a:t>
            </a:r>
            <a:endParaRPr lang="en-US" sz="1600" dirty="0"/>
          </a:p>
        </p:txBody>
      </p:sp>
      <p:sp>
        <p:nvSpPr>
          <p:cNvPr id="6" name="text-106"/>
          <p:cNvSpPr txBox="1"/>
          <p:nvPr/>
        </p:nvSpPr>
        <p:spPr>
          <a:xfrm>
            <a:off x="1051560" y="1371600"/>
            <a:ext cx="347472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Receives the raw features, such as a point's x and y position. It does no math of its own.</a:t>
            </a:r>
            <a:endParaRPr lang="en-US" sz="1300" dirty="0"/>
          </a:p>
        </p:txBody>
      </p:sp>
      <p:sp>
        <p:nvSpPr>
          <p:cNvPr id="7" name="node-107"/>
          <p:cNvSpPr/>
          <p:nvPr/>
        </p:nvSpPr>
        <p:spPr>
          <a:xfrm>
            <a:off x="457200" y="2103120"/>
            <a:ext cx="457200" cy="457200"/>
          </a:xfrm>
          <a:prstGeom prst="ellipse">
            <a:avLst/>
          </a:prstGeom>
          <a:solidFill>
            <a:srgbClr val="F28C28"/>
          </a:solidFill>
          <a:ln w="15875">
            <a:solidFill>
              <a:srgbClr val="F28C28"/>
            </a:solidFill>
            <a:prstDash val="solid"/>
          </a:ln>
        </p:spPr>
      </p:sp>
      <p:sp>
        <p:nvSpPr>
          <p:cNvPr id="8" name="text-108"/>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t>
            </a:r>
            <a:endParaRPr lang="en-US" sz="1300" dirty="0"/>
          </a:p>
        </p:txBody>
      </p:sp>
      <p:sp>
        <p:nvSpPr>
          <p:cNvPr id="9" name="text-109"/>
          <p:cNvSpPr txBox="1"/>
          <p:nvPr/>
        </p:nvSpPr>
        <p:spPr>
          <a:xfrm>
            <a:off x="1051560" y="2084832"/>
            <a:ext cx="3291840" cy="27432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Hidden layer</a:t>
            </a:r>
            <a:endParaRPr lang="en-US" sz="1600" dirty="0"/>
          </a:p>
        </p:txBody>
      </p:sp>
      <p:sp>
        <p:nvSpPr>
          <p:cNvPr id="10" name="text-110"/>
          <p:cNvSpPr txBox="1"/>
          <p:nvPr/>
        </p:nvSpPr>
        <p:spPr>
          <a:xfrm>
            <a:off x="1051560" y="2377440"/>
            <a:ext cx="347472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Each layer builds new features from the one before. Early layers find simple boundaries; deeper layers combine them into shapes.</a:t>
            </a:r>
            <a:endParaRPr lang="en-US" sz="1300" dirty="0"/>
          </a:p>
        </p:txBody>
      </p:sp>
      <p:sp>
        <p:nvSpPr>
          <p:cNvPr id="11" name="node-111"/>
          <p:cNvSpPr/>
          <p:nvPr/>
        </p:nvSpPr>
        <p:spPr>
          <a:xfrm>
            <a:off x="457200" y="3108960"/>
            <a:ext cx="457200" cy="457200"/>
          </a:xfrm>
          <a:prstGeom prst="ellipse">
            <a:avLst/>
          </a:prstGeom>
          <a:solidFill>
            <a:srgbClr val="2A9D8F"/>
          </a:solidFill>
          <a:ln w="15875">
            <a:solidFill>
              <a:srgbClr val="2A9D8F"/>
            </a:solidFill>
            <a:prstDash val="solid"/>
          </a:ln>
        </p:spPr>
      </p:sp>
      <p:sp>
        <p:nvSpPr>
          <p:cNvPr id="12" name="text-112"/>
          <p:cNvSpPr txBox="1"/>
          <p:nvPr/>
        </p:nvSpPr>
        <p:spPr>
          <a:xfrm>
            <a:off x="457200" y="3108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13" name="text-113"/>
          <p:cNvSpPr txBox="1"/>
          <p:nvPr/>
        </p:nvSpPr>
        <p:spPr>
          <a:xfrm>
            <a:off x="1051560" y="3090672"/>
            <a:ext cx="3291840" cy="274320"/>
          </a:xfrm>
          <a:prstGeom prst="rect">
            <a:avLst/>
          </a:prstGeom>
          <a:noFill/>
          <a:ln/>
        </p:spPr>
        <p:txBody>
          <a:bodyPr wrap="square" lIns="0" tIns="0" rIns="0" bIns="0" rtlCol="0" anchor="t"/>
          <a:lstStyle/>
          <a:p>
            <a:pPr indent="0" marL="0">
              <a:buNone/>
            </a:pPr>
            <a:r>
              <a:rPr lang="en-US" sz="1600" b="1" dirty="0">
                <a:solidFill>
                  <a:srgbClr val="2A9D8F"/>
                </a:solidFill>
                <a:latin typeface="Calibri" pitchFamily="34" charset="0"/>
                <a:ea typeface="Calibri" pitchFamily="34" charset="-122"/>
                <a:cs typeface="Calibri" pitchFamily="34" charset="-120"/>
              </a:rPr>
              <a:t>Output layer</a:t>
            </a:r>
            <a:endParaRPr lang="en-US" sz="1600" dirty="0"/>
          </a:p>
        </p:txBody>
      </p:sp>
      <p:sp>
        <p:nvSpPr>
          <p:cNvPr id="14" name="text-114"/>
          <p:cNvSpPr txBox="1"/>
          <p:nvPr/>
        </p:nvSpPr>
        <p:spPr>
          <a:xfrm>
            <a:off x="1051560" y="3383280"/>
            <a:ext cx="347472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Turns the last features into the answer, such as orange or blue for a classifier.</a:t>
            </a:r>
            <a:endParaRPr lang="en-US" sz="1300" dirty="0"/>
          </a:p>
        </p:txBody>
      </p:sp>
      <p:sp>
        <p:nvSpPr>
          <p:cNvPr id="15" name="card-115"/>
          <p:cNvSpPr/>
          <p:nvPr/>
        </p:nvSpPr>
        <p:spPr>
          <a:xfrm>
            <a:off x="4846320" y="1051560"/>
            <a:ext cx="3840480" cy="3429000"/>
          </a:xfrm>
          <a:prstGeom prst="roundRect">
            <a:avLst>
              <a:gd name="adj" fmla="val 2133"/>
            </a:avLst>
          </a:prstGeom>
          <a:solidFill>
            <a:srgbClr val="F2F4F8"/>
          </a:solidFill>
          <a:ln w="12700">
            <a:solidFill>
              <a:srgbClr val="F2F4F8"/>
            </a:solidFill>
            <a:prstDash val="solid"/>
          </a:ln>
        </p:spPr>
      </p:sp>
      <p:sp>
        <p:nvSpPr>
          <p:cNvPr id="16" name="text-116"/>
          <p:cNvSpPr txBox="1"/>
          <p:nvPr/>
        </p:nvSpPr>
        <p:spPr>
          <a:xfrm>
            <a:off x="5029200" y="1188720"/>
            <a:ext cx="347472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What changed when I added layers</a:t>
            </a:r>
            <a:endParaRPr lang="en-US" sz="1400" dirty="0"/>
          </a:p>
        </p:txBody>
      </p:sp>
      <p:sp>
        <p:nvSpPr>
          <p:cNvPr id="17" name="text-117"/>
          <p:cNvSpPr txBox="1"/>
          <p:nvPr/>
        </p:nvSpPr>
        <p:spPr>
          <a:xfrm>
            <a:off x="5029200" y="1463040"/>
            <a:ext cx="3474720" cy="228600"/>
          </a:xfrm>
          <a:prstGeom prst="rect">
            <a:avLst/>
          </a:prstGeom>
          <a:noFill/>
          <a:ln/>
        </p:spPr>
        <p:txBody>
          <a:bodyPr wrap="square" lIns="0" tIns="0" rIns="0" bIns="0" rtlCol="0" anchor="t"/>
          <a:lstStyle/>
          <a:p>
            <a:pPr indent="0" marL="0">
              <a:buNone/>
            </a:pPr>
            <a:r>
              <a:rPr lang="en-US" sz="1100" i="1" dirty="0">
                <a:solidFill>
                  <a:schemeClr val="tx2"/>
                </a:solidFill>
                <a:latin typeface="Calibri" pitchFamily="34" charset="0"/>
                <a:ea typeface="Calibri" pitchFamily="34" charset="-122"/>
                <a:cs typeface="Calibri" pitchFamily="34" charset="-120"/>
              </a:rPr>
              <a:t>Circle dataset, 600 epochs, same random seed</a:t>
            </a:r>
            <a:endParaRPr lang="en-US" sz="1100" dirty="0"/>
          </a:p>
        </p:txBody>
      </p:sp>
      <p:graphicFrame>
        <p:nvGraphicFramePr>
          <p:cNvPr id="18" name="chart-118" descr=""/>
          <p:cNvGraphicFramePr/>
          <p:nvPr/>
        </p:nvGraphicFramePr>
        <p:xfrm>
          <a:off x="4983480" y="1737360"/>
          <a:ext cx="3611880" cy="26060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Neurons: one small calculation each</a:t>
            </a:r>
            <a:endParaRPr lang="en-US" sz="3000" dirty="0"/>
          </a:p>
        </p:txBody>
      </p:sp>
      <p:sp>
        <p:nvSpPr>
          <p:cNvPr id="3" name="node-119"/>
          <p:cNvSpPr/>
          <p:nvPr/>
        </p:nvSpPr>
        <p:spPr>
          <a:xfrm>
            <a:off x="548640" y="1188720"/>
            <a:ext cx="384048" cy="384048"/>
          </a:xfrm>
          <a:prstGeom prst="ellipse">
            <a:avLst/>
          </a:prstGeom>
          <a:solidFill>
            <a:srgbClr val="2E86C1"/>
          </a:solidFill>
          <a:ln w="15875">
            <a:solidFill>
              <a:srgbClr val="2E86C1"/>
            </a:solidFill>
            <a:prstDash val="solid"/>
          </a:ln>
        </p:spPr>
      </p:sp>
      <p:sp>
        <p:nvSpPr>
          <p:cNvPr id="4" name="text-120"/>
          <p:cNvSpPr txBox="1"/>
          <p:nvPr/>
        </p:nvSpPr>
        <p:spPr>
          <a:xfrm>
            <a:off x="137160" y="1609344"/>
            <a:ext cx="1188720" cy="2286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x1 = 1.0</a:t>
            </a:r>
            <a:endParaRPr lang="en-US" sz="1100" dirty="0"/>
          </a:p>
        </p:txBody>
      </p:sp>
      <p:sp>
        <p:nvSpPr>
          <p:cNvPr id="5" name="node-121"/>
          <p:cNvSpPr/>
          <p:nvPr/>
        </p:nvSpPr>
        <p:spPr>
          <a:xfrm>
            <a:off x="548640" y="1965960"/>
            <a:ext cx="384048" cy="384048"/>
          </a:xfrm>
          <a:prstGeom prst="ellipse">
            <a:avLst/>
          </a:prstGeom>
          <a:solidFill>
            <a:srgbClr val="2E86C1"/>
          </a:solidFill>
          <a:ln w="15875">
            <a:solidFill>
              <a:srgbClr val="2E86C1"/>
            </a:solidFill>
            <a:prstDash val="solid"/>
          </a:ln>
        </p:spPr>
      </p:sp>
      <p:sp>
        <p:nvSpPr>
          <p:cNvPr id="6" name="text-122"/>
          <p:cNvSpPr txBox="1"/>
          <p:nvPr/>
        </p:nvSpPr>
        <p:spPr>
          <a:xfrm>
            <a:off x="137160" y="2386584"/>
            <a:ext cx="1188720" cy="2286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x2 = 0.5</a:t>
            </a:r>
            <a:endParaRPr lang="en-US" sz="1100" dirty="0"/>
          </a:p>
        </p:txBody>
      </p:sp>
      <p:sp>
        <p:nvSpPr>
          <p:cNvPr id="7" name="node-123"/>
          <p:cNvSpPr/>
          <p:nvPr/>
        </p:nvSpPr>
        <p:spPr>
          <a:xfrm>
            <a:off x="548640" y="2743200"/>
            <a:ext cx="384048" cy="384048"/>
          </a:xfrm>
          <a:prstGeom prst="ellipse">
            <a:avLst/>
          </a:prstGeom>
          <a:solidFill>
            <a:srgbClr val="8D99AE"/>
          </a:solidFill>
          <a:ln w="15875">
            <a:solidFill>
              <a:srgbClr val="8D99AE"/>
            </a:solidFill>
            <a:prstDash val="solid"/>
          </a:ln>
        </p:spPr>
      </p:sp>
      <p:sp>
        <p:nvSpPr>
          <p:cNvPr id="8" name="text-124"/>
          <p:cNvSpPr txBox="1"/>
          <p:nvPr/>
        </p:nvSpPr>
        <p:spPr>
          <a:xfrm>
            <a:off x="137160" y="3163824"/>
            <a:ext cx="1188720" cy="2286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bias b = 0.1</a:t>
            </a:r>
            <a:endParaRPr lang="en-US" sz="1100" dirty="0"/>
          </a:p>
        </p:txBody>
      </p:sp>
      <p:sp>
        <p:nvSpPr>
          <p:cNvPr id="9" name="node-125"/>
          <p:cNvSpPr/>
          <p:nvPr/>
        </p:nvSpPr>
        <p:spPr>
          <a:xfrm>
            <a:off x="2514600" y="1783080"/>
            <a:ext cx="777240" cy="777240"/>
          </a:xfrm>
          <a:prstGeom prst="ellipse">
            <a:avLst/>
          </a:prstGeom>
          <a:solidFill>
            <a:srgbClr val="F28C28"/>
          </a:solidFill>
          <a:ln w="15875">
            <a:solidFill>
              <a:srgbClr val="F28C28"/>
            </a:solidFill>
            <a:prstDash val="solid"/>
          </a:ln>
        </p:spPr>
      </p:sp>
      <p:sp>
        <p:nvSpPr>
          <p:cNvPr id="10" name="text-126"/>
          <p:cNvSpPr txBox="1"/>
          <p:nvPr/>
        </p:nvSpPr>
        <p:spPr>
          <a:xfrm>
            <a:off x="2514600" y="1783080"/>
            <a:ext cx="7772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Σ then f</a:t>
            </a:r>
            <a:endParaRPr lang="en-US" sz="1300" dirty="0"/>
          </a:p>
        </p:txBody>
      </p:sp>
      <p:sp>
        <p:nvSpPr>
          <p:cNvPr id="11" name="edge-127"/>
          <p:cNvSpPr/>
          <p:nvPr/>
        </p:nvSpPr>
        <p:spPr>
          <a:xfrm>
            <a:off x="932688" y="1380744"/>
            <a:ext cx="1609344" cy="676656"/>
          </a:xfrm>
          <a:prstGeom prst="line">
            <a:avLst/>
          </a:prstGeom>
          <a:noFill/>
          <a:ln w="31750">
            <a:solidFill>
              <a:srgbClr val="2E86C1"/>
            </a:solidFill>
            <a:prstDash val="solid"/>
          </a:ln>
        </p:spPr>
      </p:sp>
      <p:sp>
        <p:nvSpPr>
          <p:cNvPr id="12" name="text-128"/>
          <p:cNvSpPr txBox="1"/>
          <p:nvPr/>
        </p:nvSpPr>
        <p:spPr>
          <a:xfrm>
            <a:off x="1417320" y="1298448"/>
            <a:ext cx="822960" cy="228600"/>
          </a:xfrm>
          <a:prstGeom prst="rect">
            <a:avLst/>
          </a:prstGeom>
          <a:noFill/>
          <a:ln/>
        </p:spPr>
        <p:txBody>
          <a:bodyPr wrap="square" lIns="0" tIns="0" rIns="0" bIns="0" rtlCol="0" anchor="t"/>
          <a:lstStyle/>
          <a:p>
            <a:pPr indent="0" marL="0">
              <a:buNone/>
            </a:pPr>
            <a:r>
              <a:rPr lang="en-US" sz="1100" b="1" dirty="0">
                <a:solidFill>
                  <a:srgbClr val="2E86C1"/>
                </a:solidFill>
                <a:latin typeface="Calibri" pitchFamily="34" charset="0"/>
                <a:ea typeface="Calibri" pitchFamily="34" charset="-122"/>
                <a:cs typeface="Calibri" pitchFamily="34" charset="-120"/>
              </a:rPr>
              <a:t>w1 = 0.8</a:t>
            </a:r>
            <a:endParaRPr lang="en-US" sz="1100" dirty="0"/>
          </a:p>
        </p:txBody>
      </p:sp>
      <p:sp>
        <p:nvSpPr>
          <p:cNvPr id="13" name="edge-129"/>
          <p:cNvSpPr/>
          <p:nvPr/>
        </p:nvSpPr>
        <p:spPr>
          <a:xfrm>
            <a:off x="932688" y="2157984"/>
            <a:ext cx="1581912" cy="9144"/>
          </a:xfrm>
          <a:prstGeom prst="line">
            <a:avLst/>
          </a:prstGeom>
          <a:noFill/>
          <a:ln w="19050">
            <a:solidFill>
              <a:srgbClr val="F28C28"/>
            </a:solidFill>
            <a:prstDash val="solid"/>
          </a:ln>
        </p:spPr>
      </p:sp>
      <p:sp>
        <p:nvSpPr>
          <p:cNvPr id="14" name="text-130"/>
          <p:cNvSpPr txBox="1"/>
          <p:nvPr/>
        </p:nvSpPr>
        <p:spPr>
          <a:xfrm>
            <a:off x="1417320" y="1901952"/>
            <a:ext cx="822960" cy="228600"/>
          </a:xfrm>
          <a:prstGeom prst="rect">
            <a:avLst/>
          </a:prstGeom>
          <a:noFill/>
          <a:ln/>
        </p:spPr>
        <p:txBody>
          <a:bodyPr wrap="square" lIns="0" tIns="0" rIns="0" bIns="0" rtlCol="0" anchor="t"/>
          <a:lstStyle/>
          <a:p>
            <a:pPr indent="0" marL="0">
              <a:buNone/>
            </a:pPr>
            <a:r>
              <a:rPr lang="en-US" sz="1100" b="1" dirty="0">
                <a:solidFill>
                  <a:srgbClr val="F28C28"/>
                </a:solidFill>
                <a:latin typeface="Calibri" pitchFamily="34" charset="0"/>
                <a:ea typeface="Calibri" pitchFamily="34" charset="-122"/>
                <a:cs typeface="Calibri" pitchFamily="34" charset="-120"/>
              </a:rPr>
              <a:t>w2 = -0.4</a:t>
            </a:r>
            <a:endParaRPr lang="en-US" sz="1100" dirty="0"/>
          </a:p>
        </p:txBody>
      </p:sp>
      <p:sp>
        <p:nvSpPr>
          <p:cNvPr id="15" name="edge-131"/>
          <p:cNvSpPr/>
          <p:nvPr/>
        </p:nvSpPr>
        <p:spPr>
          <a:xfrm flipV="1">
            <a:off x="932688" y="2286000"/>
            <a:ext cx="1609344" cy="649224"/>
          </a:xfrm>
          <a:prstGeom prst="line">
            <a:avLst/>
          </a:prstGeom>
          <a:noFill/>
          <a:ln w="12700">
            <a:solidFill>
              <a:srgbClr val="8D99AE"/>
            </a:solidFill>
            <a:prstDash val="solid"/>
          </a:ln>
        </p:spPr>
      </p:sp>
      <p:sp>
        <p:nvSpPr>
          <p:cNvPr id="16" name="arrow-132"/>
          <p:cNvSpPr/>
          <p:nvPr/>
        </p:nvSpPr>
        <p:spPr>
          <a:xfrm>
            <a:off x="3291840" y="2167128"/>
            <a:ext cx="640080" cy="914"/>
          </a:xfrm>
          <a:prstGeom prst="line">
            <a:avLst/>
          </a:prstGeom>
          <a:noFill/>
          <a:ln w="19050">
            <a:solidFill>
              <a:srgbClr val="1B1F3B"/>
            </a:solidFill>
            <a:prstDash val="solid"/>
            <a:tailEnd type="triangle"/>
          </a:ln>
        </p:spPr>
      </p:sp>
      <p:sp>
        <p:nvSpPr>
          <p:cNvPr id="17" name="text-133"/>
          <p:cNvSpPr txBox="1"/>
          <p:nvPr/>
        </p:nvSpPr>
        <p:spPr>
          <a:xfrm>
            <a:off x="3977640" y="2029968"/>
            <a:ext cx="82296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 = 0.7</a:t>
            </a:r>
            <a:endParaRPr lang="en-US" sz="1400" dirty="0"/>
          </a:p>
        </p:txBody>
      </p:sp>
      <p:sp>
        <p:nvSpPr>
          <p:cNvPr id="18" name="card-134"/>
          <p:cNvSpPr/>
          <p:nvPr/>
        </p:nvSpPr>
        <p:spPr>
          <a:xfrm>
            <a:off x="4937760" y="1051560"/>
            <a:ext cx="3749040" cy="3429000"/>
          </a:xfrm>
          <a:prstGeom prst="roundRect">
            <a:avLst>
              <a:gd name="adj" fmla="val 2133"/>
            </a:avLst>
          </a:prstGeom>
          <a:solidFill>
            <a:srgbClr val="F2F4F8"/>
          </a:solidFill>
          <a:ln w="12700">
            <a:solidFill>
              <a:srgbClr val="F2F4F8"/>
            </a:solidFill>
            <a:prstDash val="solid"/>
          </a:ln>
        </p:spPr>
      </p:sp>
      <p:sp>
        <p:nvSpPr>
          <p:cNvPr id="19" name="text-135"/>
          <p:cNvSpPr txBox="1"/>
          <p:nvPr/>
        </p:nvSpPr>
        <p:spPr>
          <a:xfrm>
            <a:off x="5120640" y="1188720"/>
            <a:ext cx="3383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math</a:t>
            </a:r>
            <a:endParaRPr lang="en-US" sz="1400" dirty="0"/>
          </a:p>
        </p:txBody>
      </p:sp>
      <p:sp>
        <p:nvSpPr>
          <p:cNvPr id="20" name="text-136"/>
          <p:cNvSpPr txBox="1"/>
          <p:nvPr/>
        </p:nvSpPr>
        <p:spPr>
          <a:xfrm>
            <a:off x="5120640" y="1554480"/>
            <a:ext cx="3383280" cy="274320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Weighted sum:  z = w1·x1 + w2·x2 + b</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z = 0.8(1.0) + (-0.4)(0.5) + 0.1 = 0.7</a:t>
            </a:r>
            <a:endParaRPr lang="en-US" sz="13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chemeClr val="tx1"/>
                </a:solidFill>
                <a:latin typeface="Calibri" pitchFamily="34" charset="0"/>
                <a:ea typeface="Calibri" pitchFamily="34" charset="-122"/>
                <a:cs typeface="Calibri" pitchFamily="34" charset="-120"/>
              </a:rPr>
              <a:t>Activation:  a = f(z)</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ReLU(0.7) = 0.7,  sigmoid(0.7) = 0.668</a:t>
            </a:r>
            <a:endParaRPr lang="en-US" sz="13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Every neuron in a layer runs this same two-step recipe with its own weights, and passes a to every neuron in the next layer.</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Weights and biases: the dials that learn</a:t>
            </a:r>
            <a:endParaRPr lang="en-US" sz="3000" dirty="0"/>
          </a:p>
        </p:txBody>
      </p:sp>
      <p:sp>
        <p:nvSpPr>
          <p:cNvPr id="3" name="node-137"/>
          <p:cNvSpPr/>
          <p:nvPr/>
        </p:nvSpPr>
        <p:spPr>
          <a:xfrm>
            <a:off x="457200" y="1097280"/>
            <a:ext cx="457200" cy="457200"/>
          </a:xfrm>
          <a:prstGeom prst="ellipse">
            <a:avLst/>
          </a:prstGeom>
          <a:solidFill>
            <a:srgbClr val="2E86C1"/>
          </a:solidFill>
          <a:ln w="15875">
            <a:solidFill>
              <a:srgbClr val="2E86C1"/>
            </a:solidFill>
            <a:prstDash val="solid"/>
          </a:ln>
        </p:spPr>
      </p:sp>
      <p:sp>
        <p:nvSpPr>
          <p:cNvPr id="4" name="text-138"/>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
            </a:r>
            <a:endParaRPr lang="en-US" sz="1300" dirty="0"/>
          </a:p>
        </p:txBody>
      </p:sp>
      <p:sp>
        <p:nvSpPr>
          <p:cNvPr id="5" name="text-139"/>
          <p:cNvSpPr txBox="1"/>
          <p:nvPr/>
        </p:nvSpPr>
        <p:spPr>
          <a:xfrm>
            <a:off x="1051560" y="1051560"/>
            <a:ext cx="384048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Every connection has a weight</a:t>
            </a:r>
            <a:endParaRPr lang="en-US" sz="1500" dirty="0"/>
          </a:p>
        </p:txBody>
      </p:sp>
      <p:sp>
        <p:nvSpPr>
          <p:cNvPr id="6" name="text-140"/>
          <p:cNvSpPr txBox="1"/>
          <p:nvPr/>
        </p:nvSpPr>
        <p:spPr>
          <a:xfrm>
            <a:off x="1051560" y="1325880"/>
            <a:ext cx="38404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It scales how much one neuron's output matters to the next neuron.</a:t>
            </a:r>
            <a:endParaRPr lang="en-US" sz="1300" dirty="0"/>
          </a:p>
        </p:txBody>
      </p:sp>
      <p:sp>
        <p:nvSpPr>
          <p:cNvPr id="7" name="node-141"/>
          <p:cNvSpPr/>
          <p:nvPr/>
        </p:nvSpPr>
        <p:spPr>
          <a:xfrm>
            <a:off x="457200" y="1965960"/>
            <a:ext cx="457200" cy="457200"/>
          </a:xfrm>
          <a:prstGeom prst="ellipse">
            <a:avLst/>
          </a:prstGeom>
          <a:solidFill>
            <a:srgbClr val="F28C28"/>
          </a:solidFill>
          <a:ln w="15875">
            <a:solidFill>
              <a:srgbClr val="F28C28"/>
            </a:solidFill>
            <a:prstDash val="solid"/>
          </a:ln>
        </p:spPr>
      </p:sp>
      <p:sp>
        <p:nvSpPr>
          <p:cNvPr id="8" name="text-142"/>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
            </a:r>
            <a:endParaRPr lang="en-US" sz="1300" dirty="0"/>
          </a:p>
        </p:txBody>
      </p:sp>
      <p:sp>
        <p:nvSpPr>
          <p:cNvPr id="9" name="text-143"/>
          <p:cNvSpPr txBox="1"/>
          <p:nvPr/>
        </p:nvSpPr>
        <p:spPr>
          <a:xfrm>
            <a:off x="1051560" y="1920240"/>
            <a:ext cx="384048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Sign and size both matter</a:t>
            </a:r>
            <a:endParaRPr lang="en-US" sz="1500" dirty="0"/>
          </a:p>
        </p:txBody>
      </p:sp>
      <p:sp>
        <p:nvSpPr>
          <p:cNvPr id="10" name="text-144"/>
          <p:cNvSpPr txBox="1"/>
          <p:nvPr/>
        </p:nvSpPr>
        <p:spPr>
          <a:xfrm>
            <a:off x="1051560" y="2194560"/>
            <a:ext cx="38404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In Playground, blue lines are positive, orange are negative, and thicker lines are larger weights.</a:t>
            </a:r>
            <a:endParaRPr lang="en-US" sz="1300" dirty="0"/>
          </a:p>
        </p:txBody>
      </p:sp>
      <p:sp>
        <p:nvSpPr>
          <p:cNvPr id="11" name="node-145"/>
          <p:cNvSpPr/>
          <p:nvPr/>
        </p:nvSpPr>
        <p:spPr>
          <a:xfrm>
            <a:off x="457200" y="2834640"/>
            <a:ext cx="457200" cy="457200"/>
          </a:xfrm>
          <a:prstGeom prst="ellipse">
            <a:avLst/>
          </a:prstGeom>
          <a:solidFill>
            <a:srgbClr val="8D99AE"/>
          </a:solidFill>
          <a:ln w="15875">
            <a:solidFill>
              <a:srgbClr val="8D99AE"/>
            </a:solidFill>
            <a:prstDash val="solid"/>
          </a:ln>
        </p:spPr>
      </p:sp>
      <p:sp>
        <p:nvSpPr>
          <p:cNvPr id="12" name="text-146"/>
          <p:cNvSpPr txBox="1"/>
          <p:nvPr/>
        </p:nvSpPr>
        <p:spPr>
          <a:xfrm>
            <a:off x="457200" y="2834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
            </a:r>
            <a:endParaRPr lang="en-US" sz="1300" dirty="0"/>
          </a:p>
        </p:txBody>
      </p:sp>
      <p:sp>
        <p:nvSpPr>
          <p:cNvPr id="13" name="text-147"/>
          <p:cNvSpPr txBox="1"/>
          <p:nvPr/>
        </p:nvSpPr>
        <p:spPr>
          <a:xfrm>
            <a:off x="1051560" y="2788920"/>
            <a:ext cx="384048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Biases shift the threshold</a:t>
            </a:r>
            <a:endParaRPr lang="en-US" sz="1500" dirty="0"/>
          </a:p>
        </p:txBody>
      </p:sp>
      <p:sp>
        <p:nvSpPr>
          <p:cNvPr id="14" name="text-148"/>
          <p:cNvSpPr txBox="1"/>
          <p:nvPr/>
        </p:nvSpPr>
        <p:spPr>
          <a:xfrm>
            <a:off x="1051560" y="3063240"/>
            <a:ext cx="38404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 bias lets a neuron turn on even when its inputs are small.</a:t>
            </a:r>
            <a:endParaRPr lang="en-US" sz="1300" dirty="0"/>
          </a:p>
        </p:txBody>
      </p:sp>
      <p:sp>
        <p:nvSpPr>
          <p:cNvPr id="15" name="node-149"/>
          <p:cNvSpPr/>
          <p:nvPr/>
        </p:nvSpPr>
        <p:spPr>
          <a:xfrm>
            <a:off x="457200" y="3703320"/>
            <a:ext cx="457200" cy="457200"/>
          </a:xfrm>
          <a:prstGeom prst="ellipse">
            <a:avLst/>
          </a:prstGeom>
          <a:solidFill>
            <a:srgbClr val="2A9D8F"/>
          </a:solidFill>
          <a:ln w="15875">
            <a:solidFill>
              <a:srgbClr val="2A9D8F"/>
            </a:solidFill>
            <a:prstDash val="solid"/>
          </a:ln>
        </p:spPr>
      </p:sp>
      <p:sp>
        <p:nvSpPr>
          <p:cNvPr id="16" name="text-150"/>
          <p:cNvSpPr txBox="1"/>
          <p:nvPr/>
        </p:nvSpPr>
        <p:spPr>
          <a:xfrm>
            <a:off x="457200" y="3703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
            </a:r>
            <a:endParaRPr lang="en-US" sz="1300" dirty="0"/>
          </a:p>
        </p:txBody>
      </p:sp>
      <p:sp>
        <p:nvSpPr>
          <p:cNvPr id="17" name="text-151"/>
          <p:cNvSpPr txBox="1"/>
          <p:nvPr/>
        </p:nvSpPr>
        <p:spPr>
          <a:xfrm>
            <a:off x="1051560" y="3657600"/>
            <a:ext cx="384048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Training only changes these numbers</a:t>
            </a:r>
            <a:endParaRPr lang="en-US" sz="1500" dirty="0"/>
          </a:p>
        </p:txBody>
      </p:sp>
      <p:sp>
        <p:nvSpPr>
          <p:cNvPr id="18" name="text-152"/>
          <p:cNvSpPr txBox="1"/>
          <p:nvPr/>
        </p:nvSpPr>
        <p:spPr>
          <a:xfrm>
            <a:off x="1051560" y="3931920"/>
            <a:ext cx="384048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layers and activations stay fixed; learning means finding better weights and biases.</a:t>
            </a:r>
            <a:endParaRPr lang="en-US" sz="1300" dirty="0"/>
          </a:p>
        </p:txBody>
      </p:sp>
      <p:sp>
        <p:nvSpPr>
          <p:cNvPr id="19" name="card-153"/>
          <p:cNvSpPr/>
          <p:nvPr/>
        </p:nvSpPr>
        <p:spPr>
          <a:xfrm>
            <a:off x="5303520" y="1051560"/>
            <a:ext cx="3383280" cy="3429000"/>
          </a:xfrm>
          <a:prstGeom prst="roundRect">
            <a:avLst>
              <a:gd name="adj" fmla="val 2162"/>
            </a:avLst>
          </a:prstGeom>
          <a:solidFill>
            <a:srgbClr val="1B1F3B"/>
          </a:solidFill>
          <a:ln w="12700">
            <a:solidFill>
              <a:srgbClr val="1B1F3B"/>
            </a:solidFill>
            <a:prstDash val="solid"/>
          </a:ln>
        </p:spPr>
      </p:sp>
      <p:sp>
        <p:nvSpPr>
          <p:cNvPr id="20" name="text-154"/>
          <p:cNvSpPr txBox="1"/>
          <p:nvPr/>
        </p:nvSpPr>
        <p:spPr>
          <a:xfrm>
            <a:off x="5486400" y="1188720"/>
            <a:ext cx="30175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Counting the dials</a:t>
            </a:r>
            <a:endParaRPr lang="en-US" sz="1400" dirty="0"/>
          </a:p>
        </p:txBody>
      </p:sp>
      <p:sp>
        <p:nvSpPr>
          <p:cNvPr id="21" name="text-155"/>
          <p:cNvSpPr txBox="1"/>
          <p:nvPr/>
        </p:nvSpPr>
        <p:spPr>
          <a:xfrm>
            <a:off x="5486400" y="1481328"/>
            <a:ext cx="3017520" cy="228600"/>
          </a:xfrm>
          <a:prstGeom prst="rect">
            <a:avLst/>
          </a:prstGeom>
          <a:noFill/>
          <a:ln/>
        </p:spPr>
        <p:txBody>
          <a:bodyPr wrap="square" lIns="0" tIns="0" rIns="0" bIns="0" rtlCol="0" anchor="t"/>
          <a:lstStyle/>
          <a:p>
            <a:pPr indent="0" marL="0">
              <a:buNone/>
            </a:pPr>
            <a:r>
              <a:rPr lang="en-US" sz="1200" i="1" dirty="0">
                <a:solidFill>
                  <a:srgbClr val="C9CEE0"/>
                </a:solidFill>
                <a:latin typeface="Calibri" pitchFamily="34" charset="0"/>
                <a:ea typeface="Calibri" pitchFamily="34" charset="-122"/>
                <a:cs typeface="Calibri" pitchFamily="34" charset="-120"/>
              </a:rPr>
              <a:t>My Playground network: 2 → 4 → 2 → 1</a:t>
            </a:r>
            <a:endParaRPr lang="en-US" sz="1200" dirty="0"/>
          </a:p>
        </p:txBody>
      </p:sp>
      <p:sp>
        <p:nvSpPr>
          <p:cNvPr id="22" name="text-156"/>
          <p:cNvSpPr txBox="1"/>
          <p:nvPr/>
        </p:nvSpPr>
        <p:spPr>
          <a:xfrm>
            <a:off x="5486400" y="1783080"/>
            <a:ext cx="3017520" cy="914400"/>
          </a:xfrm>
          <a:prstGeom prst="rect">
            <a:avLst/>
          </a:prstGeom>
          <a:noFill/>
          <a:ln/>
        </p:spPr>
        <p:txBody>
          <a:bodyPr wrap="square" lIns="0" tIns="0" rIns="0" bIns="0" rtlCol="0" anchor="t"/>
          <a:lstStyle/>
          <a:p>
            <a:pPr indent="0" marL="0">
              <a:buNone/>
            </a:pPr>
            <a:r>
              <a:rPr lang="en-US" sz="6400" b="1" dirty="0">
                <a:solidFill>
                  <a:srgbClr val="F28C28"/>
                </a:solidFill>
                <a:latin typeface="Cambria" pitchFamily="34" charset="0"/>
                <a:ea typeface="Cambria" pitchFamily="34" charset="-122"/>
                <a:cs typeface="Cambria" pitchFamily="34" charset="-120"/>
              </a:rPr>
              <a:t>25</a:t>
            </a:r>
            <a:endParaRPr lang="en-US" sz="6400" dirty="0"/>
          </a:p>
        </p:txBody>
      </p:sp>
      <p:sp>
        <p:nvSpPr>
          <p:cNvPr id="23" name="text-157"/>
          <p:cNvSpPr txBox="1"/>
          <p:nvPr/>
        </p:nvSpPr>
        <p:spPr>
          <a:xfrm>
            <a:off x="5486400" y="2743200"/>
            <a:ext cx="301752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learnable numbers: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(2×4 + 4) + (4×2 + 2) + (2×1 + 1)</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12 + 10 + 3</a:t>
            </a:r>
            <a:endParaRPr lang="en-US" sz="1300" dirty="0"/>
          </a:p>
        </p:txBody>
      </p:sp>
      <p:sp>
        <p:nvSpPr>
          <p:cNvPr id="24" name="text-158"/>
          <p:cNvSpPr txBox="1"/>
          <p:nvPr/>
        </p:nvSpPr>
        <p:spPr>
          <a:xfrm>
            <a:off x="5486400" y="3703320"/>
            <a:ext cx="3017520" cy="640080"/>
          </a:xfrm>
          <a:prstGeom prst="rect">
            <a:avLst/>
          </a:prstGeom>
          <a:noFill/>
          <a:ln/>
        </p:spPr>
        <p:txBody>
          <a:bodyPr wrap="square" lIns="0" tIns="0" rIns="0" bIns="0" rtlCol="0" anchor="t"/>
          <a:lstStyle/>
          <a:p>
            <a:pPr indent="0" marL="0">
              <a:buNone/>
            </a:pPr>
            <a:r>
              <a:rPr lang="en-US" sz="1200" dirty="0">
                <a:solidFill>
                  <a:srgbClr val="C9CEE0"/>
                </a:solidFill>
                <a:latin typeface="Calibri" pitchFamily="34" charset="0"/>
                <a:ea typeface="Calibri" pitchFamily="34" charset="-122"/>
                <a:cs typeface="Calibri" pitchFamily="34" charset="-120"/>
              </a:rPr>
              <a:t>Large language models use the same idea with billions of these numbers.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Activation functions: adding the bends</a:t>
            </a:r>
            <a:endParaRPr lang="en-US" sz="3000" dirty="0"/>
          </a:p>
        </p:txBody>
      </p:sp>
      <p:graphicFrame>
        <p:nvGraphicFramePr>
          <p:cNvPr id="3" name="chart-159" descr=""/>
          <p:cNvGraphicFramePr/>
          <p:nvPr/>
        </p:nvGraphicFramePr>
        <p:xfrm>
          <a:off x="365760" y="1005840"/>
          <a:ext cx="4480560" cy="3520440"/>
        </p:xfrm>
        <a:graphic xmlns:a="http://schemas.openxmlformats.org/drawingml/2006/main">
          <a:graphicData uri="http://schemas.openxmlformats.org/drawingml/2006/chart">
            <c:chart xmlns:c="http://schemas.openxmlformats.org/drawingml/2006/chart" r:id="rId1"/>
          </a:graphicData>
        </a:graphic>
      </p:graphicFrame>
      <p:sp>
        <p:nvSpPr>
          <p:cNvPr id="4" name="card-160"/>
          <p:cNvSpPr/>
          <p:nvPr/>
        </p:nvSpPr>
        <p:spPr>
          <a:xfrm>
            <a:off x="5074920" y="1051560"/>
            <a:ext cx="3611880" cy="3429000"/>
          </a:xfrm>
          <a:prstGeom prst="roundRect">
            <a:avLst>
              <a:gd name="adj" fmla="val 2133"/>
            </a:avLst>
          </a:prstGeom>
          <a:solidFill>
            <a:srgbClr val="F2F4F8"/>
          </a:solidFill>
          <a:ln w="12700">
            <a:solidFill>
              <a:srgbClr val="F2F4F8"/>
            </a:solidFill>
            <a:prstDash val="solid"/>
          </a:ln>
        </p:spPr>
      </p:sp>
      <p:sp>
        <p:nvSpPr>
          <p:cNvPr id="5" name="text-161"/>
          <p:cNvSpPr txBox="1"/>
          <p:nvPr/>
        </p:nvSpPr>
        <p:spPr>
          <a:xfrm>
            <a:off x="5257800" y="1188720"/>
            <a:ext cx="329184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XOR data, same network, 600 epochs</a:t>
            </a:r>
            <a:endParaRPr lang="en-US" sz="1400" dirty="0"/>
          </a:p>
        </p:txBody>
      </p:sp>
      <p:sp>
        <p:nvSpPr>
          <p:cNvPr id="6" name="text-162"/>
          <p:cNvSpPr txBox="1"/>
          <p:nvPr/>
        </p:nvSpPr>
        <p:spPr>
          <a:xfrm>
            <a:off x="5257800" y="1600200"/>
            <a:ext cx="1463040" cy="2560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Linear (no bend)</a:t>
            </a:r>
            <a:endParaRPr lang="en-US" sz="1300" dirty="0"/>
          </a:p>
        </p:txBody>
      </p:sp>
      <p:sp>
        <p:nvSpPr>
          <p:cNvPr id="7" name="text-163"/>
          <p:cNvSpPr txBox="1"/>
          <p:nvPr/>
        </p:nvSpPr>
        <p:spPr>
          <a:xfrm>
            <a:off x="6675120" y="1600200"/>
            <a:ext cx="1920240" cy="256032"/>
          </a:xfrm>
          <a:prstGeom prst="rect">
            <a:avLst/>
          </a:prstGeom>
          <a:noFill/>
          <a:ln/>
        </p:spPr>
        <p:txBody>
          <a:bodyPr wrap="square" lIns="0" tIns="0" rIns="0" bIns="0" rtlCol="0" anchor="t"/>
          <a:lstStyle/>
          <a:p>
            <a:pPr indent="0" marL="0">
              <a:buNone/>
            </a:pPr>
            <a:r>
              <a:rPr lang="en-US" sz="1300" b="1" dirty="0">
                <a:solidFill>
                  <a:srgbClr val="D1495B"/>
                </a:solidFill>
                <a:latin typeface="Calibri" pitchFamily="34" charset="0"/>
                <a:ea typeface="Calibri" pitchFamily="34" charset="-122"/>
                <a:cs typeface="Calibri" pitchFamily="34" charset="-120"/>
              </a:rPr>
              <a:t>test loss 0.496</a:t>
            </a:r>
            <a:endParaRPr lang="en-US" sz="1300" dirty="0"/>
          </a:p>
        </p:txBody>
      </p:sp>
      <p:sp>
        <p:nvSpPr>
          <p:cNvPr id="8" name="text-164"/>
          <p:cNvSpPr txBox="1"/>
          <p:nvPr/>
        </p:nvSpPr>
        <p:spPr>
          <a:xfrm>
            <a:off x="5257800" y="1847088"/>
            <a:ext cx="329184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fails</a:t>
            </a:r>
            <a:endParaRPr lang="en-US" sz="1100" dirty="0"/>
          </a:p>
        </p:txBody>
      </p:sp>
      <p:sp>
        <p:nvSpPr>
          <p:cNvPr id="9" name="text-165"/>
          <p:cNvSpPr txBox="1"/>
          <p:nvPr/>
        </p:nvSpPr>
        <p:spPr>
          <a:xfrm>
            <a:off x="5257800" y="2167128"/>
            <a:ext cx="1463040" cy="2560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Sigmoid</a:t>
            </a:r>
            <a:endParaRPr lang="en-US" sz="1300" dirty="0"/>
          </a:p>
        </p:txBody>
      </p:sp>
      <p:sp>
        <p:nvSpPr>
          <p:cNvPr id="10" name="text-166"/>
          <p:cNvSpPr txBox="1"/>
          <p:nvPr/>
        </p:nvSpPr>
        <p:spPr>
          <a:xfrm>
            <a:off x="6675120" y="2167128"/>
            <a:ext cx="1920240" cy="256032"/>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test loss 0.044</a:t>
            </a:r>
            <a:endParaRPr lang="en-US" sz="1300" dirty="0"/>
          </a:p>
        </p:txBody>
      </p:sp>
      <p:sp>
        <p:nvSpPr>
          <p:cNvPr id="11" name="text-167"/>
          <p:cNvSpPr txBox="1"/>
          <p:nvPr/>
        </p:nvSpPr>
        <p:spPr>
          <a:xfrm>
            <a:off x="5257800" y="2414016"/>
            <a:ext cx="329184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under 0.1 at epoch 483</a:t>
            </a:r>
            <a:endParaRPr lang="en-US" sz="1100" dirty="0"/>
          </a:p>
        </p:txBody>
      </p:sp>
      <p:sp>
        <p:nvSpPr>
          <p:cNvPr id="12" name="text-168"/>
          <p:cNvSpPr txBox="1"/>
          <p:nvPr/>
        </p:nvSpPr>
        <p:spPr>
          <a:xfrm>
            <a:off x="5257800" y="2734056"/>
            <a:ext cx="1463040" cy="2560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Tanh</a:t>
            </a:r>
            <a:endParaRPr lang="en-US" sz="1300" dirty="0"/>
          </a:p>
        </p:txBody>
      </p:sp>
      <p:sp>
        <p:nvSpPr>
          <p:cNvPr id="13" name="text-169"/>
          <p:cNvSpPr txBox="1"/>
          <p:nvPr/>
        </p:nvSpPr>
        <p:spPr>
          <a:xfrm>
            <a:off x="6675120" y="2734056"/>
            <a:ext cx="1920240" cy="256032"/>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test loss 0.016</a:t>
            </a:r>
            <a:endParaRPr lang="en-US" sz="1300" dirty="0"/>
          </a:p>
        </p:txBody>
      </p:sp>
      <p:sp>
        <p:nvSpPr>
          <p:cNvPr id="14" name="text-170"/>
          <p:cNvSpPr txBox="1"/>
          <p:nvPr/>
        </p:nvSpPr>
        <p:spPr>
          <a:xfrm>
            <a:off x="5257800" y="2980944"/>
            <a:ext cx="329184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under 0.1 at epoch 60</a:t>
            </a:r>
            <a:endParaRPr lang="en-US" sz="1100" dirty="0"/>
          </a:p>
        </p:txBody>
      </p:sp>
      <p:sp>
        <p:nvSpPr>
          <p:cNvPr id="15" name="text-171"/>
          <p:cNvSpPr txBox="1"/>
          <p:nvPr/>
        </p:nvSpPr>
        <p:spPr>
          <a:xfrm>
            <a:off x="5257800" y="3300984"/>
            <a:ext cx="1463040" cy="2560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ReLU</a:t>
            </a:r>
            <a:endParaRPr lang="en-US" sz="1300" dirty="0"/>
          </a:p>
        </p:txBody>
      </p:sp>
      <p:sp>
        <p:nvSpPr>
          <p:cNvPr id="16" name="text-172"/>
          <p:cNvSpPr txBox="1"/>
          <p:nvPr/>
        </p:nvSpPr>
        <p:spPr>
          <a:xfrm>
            <a:off x="6675120" y="3300984"/>
            <a:ext cx="1920240" cy="256032"/>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test loss 0.002</a:t>
            </a:r>
            <a:endParaRPr lang="en-US" sz="1300" dirty="0"/>
          </a:p>
        </p:txBody>
      </p:sp>
      <p:sp>
        <p:nvSpPr>
          <p:cNvPr id="17" name="text-173"/>
          <p:cNvSpPr txBox="1"/>
          <p:nvPr/>
        </p:nvSpPr>
        <p:spPr>
          <a:xfrm>
            <a:off x="5257800" y="3547872"/>
            <a:ext cx="329184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under 0.1 at epoch 15</a:t>
            </a:r>
            <a:endParaRPr lang="en-US" sz="1100" dirty="0"/>
          </a:p>
        </p:txBody>
      </p:sp>
      <p:sp>
        <p:nvSpPr>
          <p:cNvPr id="18" name="text-174"/>
          <p:cNvSpPr txBox="1"/>
          <p:nvPr/>
        </p:nvSpPr>
        <p:spPr>
          <a:xfrm>
            <a:off x="5257800" y="3931920"/>
            <a:ext cx="3291840" cy="457200"/>
          </a:xfrm>
          <a:prstGeom prst="rect">
            <a:avLst/>
          </a:prstGeom>
          <a:noFill/>
          <a:ln/>
        </p:spPr>
        <p:txBody>
          <a:bodyPr wrap="square" lIns="0" tIns="0" rIns="0" bIns="0" rtlCol="0" anchor="t"/>
          <a:lstStyle/>
          <a:p>
            <a:pPr indent="0" marL="0">
              <a:buNone/>
            </a:pPr>
            <a:r>
              <a:rPr lang="en-US" sz="1200" i="1" dirty="0">
                <a:solidFill>
                  <a:schemeClr val="tx1"/>
                </a:solidFill>
                <a:latin typeface="Calibri" pitchFamily="34" charset="0"/>
                <a:ea typeface="Calibri" pitchFamily="34" charset="-122"/>
                <a:cs typeface="Calibri" pitchFamily="34" charset="-120"/>
              </a:rPr>
              <a:t>Without a bend, stacking layers still gives a straight line.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Loss functions: scoring the mistakes</a:t>
            </a:r>
            <a:endParaRPr lang="en-US" sz="3000" dirty="0"/>
          </a:p>
        </p:txBody>
      </p:sp>
      <p:sp>
        <p:nvSpPr>
          <p:cNvPr id="3" name="card-175"/>
          <p:cNvSpPr/>
          <p:nvPr/>
        </p:nvSpPr>
        <p:spPr>
          <a:xfrm>
            <a:off x="457200" y="1051560"/>
            <a:ext cx="4023360" cy="2331720"/>
          </a:xfrm>
          <a:prstGeom prst="roundRect">
            <a:avLst>
              <a:gd name="adj" fmla="val 3137"/>
            </a:avLst>
          </a:prstGeom>
          <a:solidFill>
            <a:srgbClr val="F2F4F8"/>
          </a:solidFill>
          <a:ln w="12700">
            <a:solidFill>
              <a:srgbClr val="F2F4F8"/>
            </a:solidFill>
            <a:prstDash val="solid"/>
          </a:ln>
        </p:spPr>
      </p:sp>
      <p:sp>
        <p:nvSpPr>
          <p:cNvPr id="4" name="node-176"/>
          <p:cNvSpPr/>
          <p:nvPr/>
        </p:nvSpPr>
        <p:spPr>
          <a:xfrm>
            <a:off x="640080" y="1188720"/>
            <a:ext cx="457200" cy="457200"/>
          </a:xfrm>
          <a:prstGeom prst="ellipse">
            <a:avLst/>
          </a:prstGeom>
          <a:solidFill>
            <a:srgbClr val="2E86C1"/>
          </a:solidFill>
          <a:ln w="15875">
            <a:solidFill>
              <a:srgbClr val="2E86C1"/>
            </a:solidFill>
            <a:prstDash val="solid"/>
          </a:ln>
        </p:spPr>
      </p:sp>
      <p:sp>
        <p:nvSpPr>
          <p:cNvPr id="5" name="text-177"/>
          <p:cNvSpPr txBox="1"/>
          <p:nvPr/>
        </p:nvSpPr>
        <p:spPr>
          <a:xfrm>
            <a:off x="640080" y="1188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6" name="text-178"/>
          <p:cNvSpPr txBox="1"/>
          <p:nvPr/>
        </p:nvSpPr>
        <p:spPr>
          <a:xfrm>
            <a:off x="1234440" y="1188720"/>
            <a:ext cx="3108960" cy="274320"/>
          </a:xfrm>
          <a:prstGeom prst="rect">
            <a:avLst/>
          </a:prstGeom>
          <a:noFill/>
          <a:ln/>
        </p:spPr>
        <p:txBody>
          <a:bodyPr wrap="square" lIns="0" tIns="0" rIns="0" bIns="0" rtlCol="0" anchor="t"/>
          <a:lstStyle/>
          <a:p>
            <a:pPr indent="0" marL="0">
              <a:buNone/>
            </a:pPr>
            <a:r>
              <a:rPr lang="en-US" sz="1600" b="1" dirty="0">
                <a:solidFill>
                  <a:srgbClr val="2E86C1"/>
                </a:solidFill>
                <a:latin typeface="Calibri" pitchFamily="34" charset="0"/>
                <a:ea typeface="Calibri" pitchFamily="34" charset="-122"/>
                <a:cs typeface="Calibri" pitchFamily="34" charset="-120"/>
              </a:rPr>
              <a:t>Mean squared error</a:t>
            </a:r>
            <a:endParaRPr lang="en-US" sz="1600" dirty="0"/>
          </a:p>
        </p:txBody>
      </p:sp>
      <p:sp>
        <p:nvSpPr>
          <p:cNvPr id="7" name="text-179"/>
          <p:cNvSpPr txBox="1"/>
          <p:nvPr/>
        </p:nvSpPr>
        <p:spPr>
          <a:xfrm>
            <a:off x="1234440" y="1463040"/>
            <a:ext cx="3108960" cy="22860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For numbers (regression)</a:t>
            </a:r>
            <a:endParaRPr lang="en-US" sz="1200" dirty="0"/>
          </a:p>
        </p:txBody>
      </p:sp>
      <p:sp>
        <p:nvSpPr>
          <p:cNvPr id="8" name="text-180"/>
          <p:cNvSpPr txBox="1"/>
          <p:nvPr/>
        </p:nvSpPr>
        <p:spPr>
          <a:xfrm>
            <a:off x="640080" y="1874520"/>
            <a:ext cx="3657600" cy="32004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L = average of (prediction − truth)²</a:t>
            </a:r>
            <a:endParaRPr lang="en-US" sz="1350" dirty="0"/>
          </a:p>
        </p:txBody>
      </p:sp>
      <p:sp>
        <p:nvSpPr>
          <p:cNvPr id="9" name="text-181"/>
          <p:cNvSpPr txBox="1"/>
          <p:nvPr/>
        </p:nvSpPr>
        <p:spPr>
          <a:xfrm>
            <a:off x="640080" y="2286000"/>
            <a:ext cx="3657600" cy="9601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Big misses cost much more than small ones: a miss of 0.9 costs 0.81, a miss of 0.1 costs 0.01.</a:t>
            </a:r>
            <a:endParaRPr lang="en-US" sz="1300" dirty="0"/>
          </a:p>
        </p:txBody>
      </p:sp>
      <p:sp>
        <p:nvSpPr>
          <p:cNvPr id="10" name="card-182"/>
          <p:cNvSpPr/>
          <p:nvPr/>
        </p:nvSpPr>
        <p:spPr>
          <a:xfrm>
            <a:off x="4663440" y="1051560"/>
            <a:ext cx="4023360" cy="2331720"/>
          </a:xfrm>
          <a:prstGeom prst="roundRect">
            <a:avLst>
              <a:gd name="adj" fmla="val 3137"/>
            </a:avLst>
          </a:prstGeom>
          <a:solidFill>
            <a:srgbClr val="F2F4F8"/>
          </a:solidFill>
          <a:ln w="12700">
            <a:solidFill>
              <a:srgbClr val="F2F4F8"/>
            </a:solidFill>
            <a:prstDash val="solid"/>
          </a:ln>
        </p:spPr>
      </p:sp>
      <p:sp>
        <p:nvSpPr>
          <p:cNvPr id="11" name="node-183"/>
          <p:cNvSpPr/>
          <p:nvPr/>
        </p:nvSpPr>
        <p:spPr>
          <a:xfrm>
            <a:off x="4846320" y="1188720"/>
            <a:ext cx="457200" cy="457200"/>
          </a:xfrm>
          <a:prstGeom prst="ellipse">
            <a:avLst/>
          </a:prstGeom>
          <a:solidFill>
            <a:srgbClr val="F28C28"/>
          </a:solidFill>
          <a:ln w="15875">
            <a:solidFill>
              <a:srgbClr val="F28C28"/>
            </a:solidFill>
            <a:prstDash val="solid"/>
          </a:ln>
        </p:spPr>
      </p:sp>
      <p:sp>
        <p:nvSpPr>
          <p:cNvPr id="12" name="text-184"/>
          <p:cNvSpPr txBox="1"/>
          <p:nvPr/>
        </p:nvSpPr>
        <p:spPr>
          <a:xfrm>
            <a:off x="4846320" y="1188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13" name="text-185"/>
          <p:cNvSpPr txBox="1"/>
          <p:nvPr/>
        </p:nvSpPr>
        <p:spPr>
          <a:xfrm>
            <a:off x="5440680" y="1188720"/>
            <a:ext cx="3108960" cy="27432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Cross-entropy</a:t>
            </a:r>
            <a:endParaRPr lang="en-US" sz="1600" dirty="0"/>
          </a:p>
        </p:txBody>
      </p:sp>
      <p:sp>
        <p:nvSpPr>
          <p:cNvPr id="14" name="text-186"/>
          <p:cNvSpPr txBox="1"/>
          <p:nvPr/>
        </p:nvSpPr>
        <p:spPr>
          <a:xfrm>
            <a:off x="5440680" y="1463040"/>
            <a:ext cx="3108960" cy="22860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For classes (classification)</a:t>
            </a:r>
            <a:endParaRPr lang="en-US" sz="1200" dirty="0"/>
          </a:p>
        </p:txBody>
      </p:sp>
      <p:sp>
        <p:nvSpPr>
          <p:cNvPr id="15" name="text-187"/>
          <p:cNvSpPr txBox="1"/>
          <p:nvPr/>
        </p:nvSpPr>
        <p:spPr>
          <a:xfrm>
            <a:off x="4846320" y="1874520"/>
            <a:ext cx="3657600" cy="32004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L = −log(probability given to the true class)</a:t>
            </a:r>
            <a:endParaRPr lang="en-US" sz="1350" dirty="0"/>
          </a:p>
        </p:txBody>
      </p:sp>
      <p:sp>
        <p:nvSpPr>
          <p:cNvPr id="16" name="text-188"/>
          <p:cNvSpPr txBox="1"/>
          <p:nvPr/>
        </p:nvSpPr>
        <p:spPr>
          <a:xfrm>
            <a:off x="4846320" y="2286000"/>
            <a:ext cx="3657600" cy="9601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Confident mistakes are punished hard: 0.9 on the right class costs 0.105, but 0.1 costs 2.303.</a:t>
            </a:r>
            <a:endParaRPr lang="en-US" sz="1300" dirty="0"/>
          </a:p>
        </p:txBody>
      </p:sp>
      <p:sp>
        <p:nvSpPr>
          <p:cNvPr id="17" name="card-189"/>
          <p:cNvSpPr/>
          <p:nvPr/>
        </p:nvSpPr>
        <p:spPr>
          <a:xfrm>
            <a:off x="457200" y="3566160"/>
            <a:ext cx="8229600" cy="1005840"/>
          </a:xfrm>
          <a:prstGeom prst="roundRect">
            <a:avLst>
              <a:gd name="adj" fmla="val 7273"/>
            </a:avLst>
          </a:prstGeom>
          <a:solidFill>
            <a:srgbClr val="1B1F3B"/>
          </a:solidFill>
          <a:ln w="12700">
            <a:solidFill>
              <a:srgbClr val="1B1F3B"/>
            </a:solidFill>
            <a:prstDash val="solid"/>
          </a:ln>
        </p:spPr>
      </p:sp>
      <p:sp>
        <p:nvSpPr>
          <p:cNvPr id="18" name="text-190"/>
          <p:cNvSpPr txBox="1"/>
          <p:nvPr/>
        </p:nvSpPr>
        <p:spPr>
          <a:xfrm>
            <a:off x="685800" y="3675888"/>
            <a:ext cx="7772400" cy="804672"/>
          </a:xfrm>
          <a:prstGeom prst="rect">
            <a:avLst/>
          </a:prstGeom>
          <a:noFill/>
          <a:ln/>
        </p:spPr>
        <p:txBody>
          <a:bodyPr wrap="square" lIns="0" tIns="0" rIns="0" bIns="0" rtlCol="0" anchor="ctr"/>
          <a:lstStyle/>
          <a:p>
            <a:pPr indent="0" marL="0">
              <a:buNone/>
            </a:pPr>
            <a:r>
              <a:rPr lang="en-US" sz="1300" b="1" dirty="0">
                <a:solidFill>
                  <a:srgbClr val="F28C28"/>
                </a:solidFill>
                <a:latin typeface="Calibri" pitchFamily="34" charset="0"/>
                <a:ea typeface="Calibri" pitchFamily="34" charset="-122"/>
                <a:cs typeface="Calibri" pitchFamily="34" charset="-120"/>
              </a:rPr>
              <a:t>In Playground: </a:t>
            </a:r>
            <a:pPr indent="0" marL="0">
              <a:buNone/>
            </a:pPr>
            <a:r>
              <a:rPr lang="en-US" sz="1300" dirty="0">
                <a:solidFill>
                  <a:srgbClr val="FFFFFF"/>
                </a:solidFill>
                <a:latin typeface="Calibri" pitchFamily="34" charset="0"/>
                <a:ea typeface="Calibri" pitchFamily="34" charset="-122"/>
                <a:cs typeface="Calibri" pitchFamily="34" charset="-120"/>
              </a:rPr>
              <a:t>labels are -1 and +1, and the loss shown is the average of ½(output − label)². A network that guesses one class everywhere scores about 1.0. That is exactly what one of my runs did (test loss 1.032).</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Optimizers: small steps downhill</a:t>
            </a:r>
            <a:endParaRPr lang="en-US" sz="3000" dirty="0"/>
          </a:p>
        </p:txBody>
      </p:sp>
      <p:sp>
        <p:nvSpPr>
          <p:cNvPr id="3" name="card-191"/>
          <p:cNvSpPr/>
          <p:nvPr/>
        </p:nvSpPr>
        <p:spPr>
          <a:xfrm>
            <a:off x="457200" y="1051560"/>
            <a:ext cx="3749040" cy="3429000"/>
          </a:xfrm>
          <a:prstGeom prst="roundRect">
            <a:avLst>
              <a:gd name="adj" fmla="val 2133"/>
            </a:avLst>
          </a:prstGeom>
          <a:solidFill>
            <a:srgbClr val="F2F4F8"/>
          </a:solidFill>
          <a:ln w="12700">
            <a:solidFill>
              <a:srgbClr val="F2F4F8"/>
            </a:solidFill>
            <a:prstDash val="solid"/>
          </a:ln>
        </p:spPr>
      </p:sp>
      <p:sp>
        <p:nvSpPr>
          <p:cNvPr id="4" name="text-192"/>
          <p:cNvSpPr txBox="1"/>
          <p:nvPr/>
        </p:nvSpPr>
        <p:spPr>
          <a:xfrm>
            <a:off x="640080" y="1188720"/>
            <a:ext cx="33832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update rule</a:t>
            </a:r>
            <a:endParaRPr lang="en-US" sz="1400" dirty="0"/>
          </a:p>
        </p:txBody>
      </p:sp>
      <p:sp>
        <p:nvSpPr>
          <p:cNvPr id="5" name="text-193"/>
          <p:cNvSpPr txBox="1"/>
          <p:nvPr/>
        </p:nvSpPr>
        <p:spPr>
          <a:xfrm>
            <a:off x="640080" y="1572768"/>
            <a:ext cx="3383280" cy="411480"/>
          </a:xfrm>
          <a:prstGeom prst="rect">
            <a:avLst/>
          </a:prstGeom>
          <a:noFill/>
          <a:ln/>
        </p:spPr>
        <p:txBody>
          <a:bodyPr wrap="square" lIns="0" tIns="0" rIns="0" bIns="0" rtlCol="0" anchor="t"/>
          <a:lstStyle/>
          <a:p>
            <a:pPr indent="0" marL="0">
              <a:buNone/>
            </a:pPr>
            <a:r>
              <a:rPr lang="en-US" sz="2200" b="1" dirty="0">
                <a:solidFill>
                  <a:srgbClr val="2A9D8F"/>
                </a:solidFill>
                <a:latin typeface="Cambria" pitchFamily="34" charset="0"/>
                <a:ea typeface="Cambria" pitchFamily="34" charset="-122"/>
                <a:cs typeface="Cambria" pitchFamily="34" charset="-120"/>
              </a:rPr>
              <a:t>w  ←  w − η · ∂L/∂w</a:t>
            </a:r>
            <a:endParaRPr lang="en-US" sz="2200" dirty="0"/>
          </a:p>
        </p:txBody>
      </p:sp>
      <p:sp>
        <p:nvSpPr>
          <p:cNvPr id="6" name="text-194"/>
          <p:cNvSpPr txBox="1"/>
          <p:nvPr/>
        </p:nvSpPr>
        <p:spPr>
          <a:xfrm>
            <a:off x="640080" y="2148840"/>
            <a:ext cx="342900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∂L/∂w is the slope of the loss for that weight, found by backpropagation.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η is the learning rate: the size of each step.</a:t>
            </a:r>
            <a:endParaRPr lang="en-US" sz="1300" dirty="0"/>
          </a:p>
          <a:p>
            <a:pPr marL="342900" indent="-342900">
              <a:buSzPct val="100000"/>
              <a:buChar char="•"/>
            </a:pPr>
            <a:r>
              <a:rPr lang="en-US" sz="1300" dirty="0">
                <a:solidFill>
                  <a:schemeClr val="tx1"/>
                </a:solidFill>
                <a:latin typeface="Calibri" pitchFamily="34" charset="0"/>
                <a:ea typeface="Calibri" pitchFamily="34" charset="-122"/>
                <a:cs typeface="Calibri" pitchFamily="34" charset="-120"/>
              </a:rPr>
              <a:t>Stochastic gradient descent uses small batches; Adam also adapts the step for each weight.</a:t>
            </a:r>
            <a:endParaRPr lang="en-US" sz="1300" dirty="0"/>
          </a:p>
        </p:txBody>
      </p:sp>
      <p:sp>
        <p:nvSpPr>
          <p:cNvPr id="7" name="text-195"/>
          <p:cNvSpPr txBox="1"/>
          <p:nvPr/>
        </p:nvSpPr>
        <p:spPr>
          <a:xfrm>
            <a:off x="4480560" y="1051560"/>
            <a:ext cx="420624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Learning rate test: circle data, 600 epochs</a:t>
            </a:r>
            <a:endParaRPr lang="en-US" sz="1400" dirty="0"/>
          </a:p>
        </p:txBody>
      </p:sp>
      <p:graphicFrame>
        <p:nvGraphicFramePr>
          <p:cNvPr id="8" name="chart-196" descr=""/>
          <p:cNvGraphicFramePr/>
          <p:nvPr/>
        </p:nvGraphicFramePr>
        <p:xfrm>
          <a:off x="4434840" y="1325880"/>
          <a:ext cx="4251960" cy="2514600"/>
        </p:xfrm>
        <a:graphic xmlns:a="http://schemas.openxmlformats.org/drawingml/2006/main">
          <a:graphicData uri="http://schemas.openxmlformats.org/drawingml/2006/chart">
            <c:chart xmlns:c="http://schemas.openxmlformats.org/drawingml/2006/chart" r:id="rId1"/>
          </a:graphicData>
        </a:graphic>
      </p:graphicFrame>
      <p:sp>
        <p:nvSpPr>
          <p:cNvPr id="9" name="text-197"/>
          <p:cNvSpPr txBox="1"/>
          <p:nvPr/>
        </p:nvSpPr>
        <p:spPr>
          <a:xfrm>
            <a:off x="4480560" y="3886200"/>
            <a:ext cx="4206240" cy="594360"/>
          </a:xfrm>
          <a:prstGeom prst="rect">
            <a:avLst/>
          </a:prstGeom>
          <a:noFill/>
          <a:ln/>
        </p:spPr>
        <p:txBody>
          <a:bodyPr wrap="square" lIns="0" tIns="0" rIns="0" bIns="0" rtlCol="0" anchor="t"/>
          <a:lstStyle/>
          <a:p>
            <a:pPr indent="0" marL="0">
              <a:buNone/>
            </a:pPr>
            <a:r>
              <a:rPr lang="en-US" sz="1200" i="1" dirty="0">
                <a:solidFill>
                  <a:schemeClr val="tx1"/>
                </a:solidFill>
                <a:latin typeface="Calibri" pitchFamily="34" charset="0"/>
                <a:ea typeface="Calibri" pitchFamily="34" charset="-122"/>
                <a:cs typeface="Calibri" pitchFamily="34" charset="-120"/>
              </a:rPr>
              <a:t>Too small crawls (epoch 568 to get under 0.1). Too large overshoots and never settles. 0.03 to 0.3 got there by epoch 62.</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One training step, all six parts together</a:t>
            </a:r>
            <a:endParaRPr lang="en-US" sz="3000" dirty="0"/>
          </a:p>
        </p:txBody>
      </p:sp>
      <p:sp>
        <p:nvSpPr>
          <p:cNvPr id="3" name="card-198"/>
          <p:cNvSpPr/>
          <p:nvPr/>
        </p:nvSpPr>
        <p:spPr>
          <a:xfrm>
            <a:off x="457200" y="1325880"/>
            <a:ext cx="1298448" cy="2377440"/>
          </a:xfrm>
          <a:prstGeom prst="roundRect">
            <a:avLst>
              <a:gd name="adj" fmla="val 5634"/>
            </a:avLst>
          </a:prstGeom>
          <a:solidFill>
            <a:srgbClr val="F2F4F8"/>
          </a:solidFill>
          <a:ln w="12700">
            <a:solidFill>
              <a:srgbClr val="F2F4F8"/>
            </a:solidFill>
            <a:prstDash val="solid"/>
          </a:ln>
        </p:spPr>
      </p:sp>
      <p:sp>
        <p:nvSpPr>
          <p:cNvPr id="4" name="node-199"/>
          <p:cNvSpPr/>
          <p:nvPr/>
        </p:nvSpPr>
        <p:spPr>
          <a:xfrm>
            <a:off x="877824" y="1463040"/>
            <a:ext cx="457200" cy="457200"/>
          </a:xfrm>
          <a:prstGeom prst="ellipse">
            <a:avLst/>
          </a:prstGeom>
          <a:solidFill>
            <a:srgbClr val="2E86C1"/>
          </a:solidFill>
          <a:ln w="15875">
            <a:solidFill>
              <a:srgbClr val="2E86C1"/>
            </a:solidFill>
            <a:prstDash val="solid"/>
          </a:ln>
        </p:spPr>
      </p:sp>
      <p:sp>
        <p:nvSpPr>
          <p:cNvPr id="5" name="text-200"/>
          <p:cNvSpPr txBox="1"/>
          <p:nvPr/>
        </p:nvSpPr>
        <p:spPr>
          <a:xfrm>
            <a:off x="877824"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201"/>
          <p:cNvSpPr txBox="1"/>
          <p:nvPr/>
        </p:nvSpPr>
        <p:spPr>
          <a:xfrm>
            <a:off x="530352" y="2011680"/>
            <a:ext cx="1152144" cy="274320"/>
          </a:xfrm>
          <a:prstGeom prst="rect">
            <a:avLst/>
          </a:prstGeom>
          <a:noFill/>
          <a:ln/>
        </p:spPr>
        <p:txBody>
          <a:bodyPr wrap="square" lIns="0" tIns="0" rIns="0" bIns="0" rtlCol="0" anchor="t"/>
          <a:lstStyle/>
          <a:p>
            <a:pPr algn="ctr" indent="0" marL="0">
              <a:buNone/>
            </a:pPr>
            <a:r>
              <a:rPr lang="en-US" sz="1400" b="1" dirty="0">
                <a:solidFill>
                  <a:srgbClr val="2E86C1"/>
                </a:solidFill>
                <a:latin typeface="Calibri" pitchFamily="34" charset="0"/>
                <a:ea typeface="Calibri" pitchFamily="34" charset="-122"/>
                <a:cs typeface="Calibri" pitchFamily="34" charset="-120"/>
              </a:rPr>
              <a:t>Feed in</a:t>
            </a:r>
            <a:endParaRPr lang="en-US" sz="1400" dirty="0"/>
          </a:p>
        </p:txBody>
      </p:sp>
      <p:sp>
        <p:nvSpPr>
          <p:cNvPr id="7" name="text-202"/>
          <p:cNvSpPr txBox="1"/>
          <p:nvPr/>
        </p:nvSpPr>
        <p:spPr>
          <a:xfrm>
            <a:off x="548640" y="2331720"/>
            <a:ext cx="1115568" cy="12801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Input layer takes a batch of points</a:t>
            </a:r>
            <a:endParaRPr lang="en-US" sz="1200" dirty="0"/>
          </a:p>
        </p:txBody>
      </p:sp>
      <p:sp>
        <p:nvSpPr>
          <p:cNvPr id="8" name="arrow-203"/>
          <p:cNvSpPr/>
          <p:nvPr/>
        </p:nvSpPr>
        <p:spPr>
          <a:xfrm>
            <a:off x="1760220" y="2514600"/>
            <a:ext cx="82296" cy="914"/>
          </a:xfrm>
          <a:prstGeom prst="line">
            <a:avLst/>
          </a:prstGeom>
          <a:noFill/>
          <a:ln w="15875">
            <a:solidFill>
              <a:srgbClr val="1B1F3B"/>
            </a:solidFill>
            <a:prstDash val="solid"/>
            <a:tailEnd type="triangle"/>
          </a:ln>
        </p:spPr>
      </p:sp>
      <p:sp>
        <p:nvSpPr>
          <p:cNvPr id="9" name="card-204"/>
          <p:cNvSpPr/>
          <p:nvPr/>
        </p:nvSpPr>
        <p:spPr>
          <a:xfrm>
            <a:off x="1847088" y="1325880"/>
            <a:ext cx="1298448" cy="2377440"/>
          </a:xfrm>
          <a:prstGeom prst="roundRect">
            <a:avLst>
              <a:gd name="adj" fmla="val 5634"/>
            </a:avLst>
          </a:prstGeom>
          <a:solidFill>
            <a:srgbClr val="F2F4F8"/>
          </a:solidFill>
          <a:ln w="12700">
            <a:solidFill>
              <a:srgbClr val="F2F4F8"/>
            </a:solidFill>
            <a:prstDash val="solid"/>
          </a:ln>
        </p:spPr>
      </p:sp>
      <p:sp>
        <p:nvSpPr>
          <p:cNvPr id="10" name="node-205"/>
          <p:cNvSpPr/>
          <p:nvPr/>
        </p:nvSpPr>
        <p:spPr>
          <a:xfrm>
            <a:off x="2267712" y="1463040"/>
            <a:ext cx="457200" cy="457200"/>
          </a:xfrm>
          <a:prstGeom prst="ellipse">
            <a:avLst/>
          </a:prstGeom>
          <a:solidFill>
            <a:srgbClr val="2E86C1"/>
          </a:solidFill>
          <a:ln w="15875">
            <a:solidFill>
              <a:srgbClr val="2E86C1"/>
            </a:solidFill>
            <a:prstDash val="solid"/>
          </a:ln>
        </p:spPr>
      </p:sp>
      <p:sp>
        <p:nvSpPr>
          <p:cNvPr id="11" name="text-206"/>
          <p:cNvSpPr txBox="1"/>
          <p:nvPr/>
        </p:nvSpPr>
        <p:spPr>
          <a:xfrm>
            <a:off x="2267712"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207"/>
          <p:cNvSpPr txBox="1"/>
          <p:nvPr/>
        </p:nvSpPr>
        <p:spPr>
          <a:xfrm>
            <a:off x="1920240" y="2011680"/>
            <a:ext cx="1152144" cy="274320"/>
          </a:xfrm>
          <a:prstGeom prst="rect">
            <a:avLst/>
          </a:prstGeom>
          <a:noFill/>
          <a:ln/>
        </p:spPr>
        <p:txBody>
          <a:bodyPr wrap="square" lIns="0" tIns="0" rIns="0" bIns="0" rtlCol="0" anchor="t"/>
          <a:lstStyle/>
          <a:p>
            <a:pPr algn="ctr" indent="0" marL="0">
              <a:buNone/>
            </a:pPr>
            <a:r>
              <a:rPr lang="en-US" sz="1400" b="1" dirty="0">
                <a:solidFill>
                  <a:srgbClr val="2E86C1"/>
                </a:solidFill>
                <a:latin typeface="Calibri" pitchFamily="34" charset="0"/>
                <a:ea typeface="Calibri" pitchFamily="34" charset="-122"/>
                <a:cs typeface="Calibri" pitchFamily="34" charset="-120"/>
              </a:rPr>
              <a:t>Combine</a:t>
            </a:r>
            <a:endParaRPr lang="en-US" sz="1400" dirty="0"/>
          </a:p>
        </p:txBody>
      </p:sp>
      <p:sp>
        <p:nvSpPr>
          <p:cNvPr id="13" name="text-208"/>
          <p:cNvSpPr txBox="1"/>
          <p:nvPr/>
        </p:nvSpPr>
        <p:spPr>
          <a:xfrm>
            <a:off x="1938528" y="2331720"/>
            <a:ext cx="1115568" cy="12801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Neurons form weighted sums with their weights and biases</a:t>
            </a:r>
            <a:endParaRPr lang="en-US" sz="1200" dirty="0"/>
          </a:p>
        </p:txBody>
      </p:sp>
      <p:sp>
        <p:nvSpPr>
          <p:cNvPr id="14" name="arrow-209"/>
          <p:cNvSpPr/>
          <p:nvPr/>
        </p:nvSpPr>
        <p:spPr>
          <a:xfrm>
            <a:off x="3150108" y="2514600"/>
            <a:ext cx="82296" cy="914"/>
          </a:xfrm>
          <a:prstGeom prst="line">
            <a:avLst/>
          </a:prstGeom>
          <a:noFill/>
          <a:ln w="15875">
            <a:solidFill>
              <a:srgbClr val="1B1F3B"/>
            </a:solidFill>
            <a:prstDash val="solid"/>
            <a:tailEnd type="triangle"/>
          </a:ln>
        </p:spPr>
      </p:sp>
      <p:sp>
        <p:nvSpPr>
          <p:cNvPr id="15" name="card-210"/>
          <p:cNvSpPr/>
          <p:nvPr/>
        </p:nvSpPr>
        <p:spPr>
          <a:xfrm>
            <a:off x="3236976" y="1325880"/>
            <a:ext cx="1298448" cy="2377440"/>
          </a:xfrm>
          <a:prstGeom prst="roundRect">
            <a:avLst>
              <a:gd name="adj" fmla="val 5634"/>
            </a:avLst>
          </a:prstGeom>
          <a:solidFill>
            <a:srgbClr val="F2F4F8"/>
          </a:solidFill>
          <a:ln w="12700">
            <a:solidFill>
              <a:srgbClr val="F2F4F8"/>
            </a:solidFill>
            <a:prstDash val="solid"/>
          </a:ln>
        </p:spPr>
      </p:sp>
      <p:sp>
        <p:nvSpPr>
          <p:cNvPr id="16" name="node-211"/>
          <p:cNvSpPr/>
          <p:nvPr/>
        </p:nvSpPr>
        <p:spPr>
          <a:xfrm>
            <a:off x="3657600" y="1463040"/>
            <a:ext cx="457200" cy="457200"/>
          </a:xfrm>
          <a:prstGeom prst="ellipse">
            <a:avLst/>
          </a:prstGeom>
          <a:solidFill>
            <a:srgbClr val="F28C28"/>
          </a:solidFill>
          <a:ln w="15875">
            <a:solidFill>
              <a:srgbClr val="F28C28"/>
            </a:solidFill>
            <a:prstDash val="solid"/>
          </a:ln>
        </p:spPr>
      </p:sp>
      <p:sp>
        <p:nvSpPr>
          <p:cNvPr id="17" name="text-212"/>
          <p:cNvSpPr txBox="1"/>
          <p:nvPr/>
        </p:nvSpPr>
        <p:spPr>
          <a:xfrm>
            <a:off x="3657600"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213"/>
          <p:cNvSpPr txBox="1"/>
          <p:nvPr/>
        </p:nvSpPr>
        <p:spPr>
          <a:xfrm>
            <a:off x="3310128" y="2011680"/>
            <a:ext cx="1152144" cy="274320"/>
          </a:xfrm>
          <a:prstGeom prst="rect">
            <a:avLst/>
          </a:prstGeom>
          <a:noFill/>
          <a:ln/>
        </p:spPr>
        <p:txBody>
          <a:bodyPr wrap="square" lIns="0" tIns="0" rIns="0" bIns="0" rtlCol="0" anchor="t"/>
          <a:lstStyle/>
          <a:p>
            <a:pPr algn="ctr" indent="0" marL="0">
              <a:buNone/>
            </a:pPr>
            <a:r>
              <a:rPr lang="en-US" sz="1400" b="1" dirty="0">
                <a:solidFill>
                  <a:srgbClr val="F28C28"/>
                </a:solidFill>
                <a:latin typeface="Calibri" pitchFamily="34" charset="0"/>
                <a:ea typeface="Calibri" pitchFamily="34" charset="-122"/>
                <a:cs typeface="Calibri" pitchFamily="34" charset="-120"/>
              </a:rPr>
              <a:t>Bend</a:t>
            </a:r>
            <a:endParaRPr lang="en-US" sz="1400" dirty="0"/>
          </a:p>
        </p:txBody>
      </p:sp>
      <p:sp>
        <p:nvSpPr>
          <p:cNvPr id="19" name="text-214"/>
          <p:cNvSpPr txBox="1"/>
          <p:nvPr/>
        </p:nvSpPr>
        <p:spPr>
          <a:xfrm>
            <a:off x="3328416" y="2331720"/>
            <a:ext cx="1115568" cy="12801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Activation functions shape each sum</a:t>
            </a:r>
            <a:endParaRPr lang="en-US" sz="1200" dirty="0"/>
          </a:p>
        </p:txBody>
      </p:sp>
      <p:sp>
        <p:nvSpPr>
          <p:cNvPr id="20" name="arrow-215"/>
          <p:cNvSpPr/>
          <p:nvPr/>
        </p:nvSpPr>
        <p:spPr>
          <a:xfrm>
            <a:off x="4539996" y="2514600"/>
            <a:ext cx="82296" cy="914"/>
          </a:xfrm>
          <a:prstGeom prst="line">
            <a:avLst/>
          </a:prstGeom>
          <a:noFill/>
          <a:ln w="15875">
            <a:solidFill>
              <a:srgbClr val="1B1F3B"/>
            </a:solidFill>
            <a:prstDash val="solid"/>
            <a:tailEnd type="triangle"/>
          </a:ln>
        </p:spPr>
      </p:sp>
      <p:sp>
        <p:nvSpPr>
          <p:cNvPr id="21" name="card-216"/>
          <p:cNvSpPr/>
          <p:nvPr/>
        </p:nvSpPr>
        <p:spPr>
          <a:xfrm>
            <a:off x="4626864" y="1325880"/>
            <a:ext cx="1298448" cy="2377440"/>
          </a:xfrm>
          <a:prstGeom prst="roundRect">
            <a:avLst>
              <a:gd name="adj" fmla="val 5634"/>
            </a:avLst>
          </a:prstGeom>
          <a:solidFill>
            <a:srgbClr val="F2F4F8"/>
          </a:solidFill>
          <a:ln w="12700">
            <a:solidFill>
              <a:srgbClr val="F2F4F8"/>
            </a:solidFill>
            <a:prstDash val="solid"/>
          </a:ln>
        </p:spPr>
      </p:sp>
      <p:sp>
        <p:nvSpPr>
          <p:cNvPr id="22" name="node-217"/>
          <p:cNvSpPr/>
          <p:nvPr/>
        </p:nvSpPr>
        <p:spPr>
          <a:xfrm>
            <a:off x="5047488" y="1463040"/>
            <a:ext cx="457200" cy="457200"/>
          </a:xfrm>
          <a:prstGeom prst="ellipse">
            <a:avLst/>
          </a:prstGeom>
          <a:solidFill>
            <a:srgbClr val="2A9D8F"/>
          </a:solidFill>
          <a:ln w="15875">
            <a:solidFill>
              <a:srgbClr val="2A9D8F"/>
            </a:solidFill>
            <a:prstDash val="solid"/>
          </a:ln>
        </p:spPr>
      </p:sp>
      <p:sp>
        <p:nvSpPr>
          <p:cNvPr id="23" name="text-218"/>
          <p:cNvSpPr txBox="1"/>
          <p:nvPr/>
        </p:nvSpPr>
        <p:spPr>
          <a:xfrm>
            <a:off x="5047488"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219"/>
          <p:cNvSpPr txBox="1"/>
          <p:nvPr/>
        </p:nvSpPr>
        <p:spPr>
          <a:xfrm>
            <a:off x="4700016" y="2011680"/>
            <a:ext cx="1152144" cy="274320"/>
          </a:xfrm>
          <a:prstGeom prst="rect">
            <a:avLst/>
          </a:prstGeom>
          <a:noFill/>
          <a:ln/>
        </p:spPr>
        <p:txBody>
          <a:bodyPr wrap="square" lIns="0" tIns="0" rIns="0" bIns="0" rtlCol="0" anchor="t"/>
          <a:lstStyle/>
          <a:p>
            <a:pPr algn="ctr" indent="0" marL="0">
              <a:buNone/>
            </a:pPr>
            <a:r>
              <a:rPr lang="en-US" sz="1400" b="1" dirty="0">
                <a:solidFill>
                  <a:srgbClr val="2A9D8F"/>
                </a:solidFill>
                <a:latin typeface="Calibri" pitchFamily="34" charset="0"/>
                <a:ea typeface="Calibri" pitchFamily="34" charset="-122"/>
                <a:cs typeface="Calibri" pitchFamily="34" charset="-120"/>
              </a:rPr>
              <a:t>Score</a:t>
            </a:r>
            <a:endParaRPr lang="en-US" sz="1400" dirty="0"/>
          </a:p>
        </p:txBody>
      </p:sp>
      <p:sp>
        <p:nvSpPr>
          <p:cNvPr id="25" name="text-220"/>
          <p:cNvSpPr txBox="1"/>
          <p:nvPr/>
        </p:nvSpPr>
        <p:spPr>
          <a:xfrm>
            <a:off x="4718304" y="2331720"/>
            <a:ext cx="1115568" cy="12801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Loss function compares output with labels</a:t>
            </a:r>
            <a:endParaRPr lang="en-US" sz="1200" dirty="0"/>
          </a:p>
        </p:txBody>
      </p:sp>
      <p:sp>
        <p:nvSpPr>
          <p:cNvPr id="26" name="arrow-221"/>
          <p:cNvSpPr/>
          <p:nvPr/>
        </p:nvSpPr>
        <p:spPr>
          <a:xfrm>
            <a:off x="5929884" y="2514600"/>
            <a:ext cx="82296" cy="914"/>
          </a:xfrm>
          <a:prstGeom prst="line">
            <a:avLst/>
          </a:prstGeom>
          <a:noFill/>
          <a:ln w="15875">
            <a:solidFill>
              <a:srgbClr val="1B1F3B"/>
            </a:solidFill>
            <a:prstDash val="solid"/>
            <a:tailEnd type="triangle"/>
          </a:ln>
        </p:spPr>
      </p:sp>
      <p:sp>
        <p:nvSpPr>
          <p:cNvPr id="27" name="card-222"/>
          <p:cNvSpPr/>
          <p:nvPr/>
        </p:nvSpPr>
        <p:spPr>
          <a:xfrm>
            <a:off x="6016752" y="1325880"/>
            <a:ext cx="1298448" cy="2377440"/>
          </a:xfrm>
          <a:prstGeom prst="roundRect">
            <a:avLst>
              <a:gd name="adj" fmla="val 5634"/>
            </a:avLst>
          </a:prstGeom>
          <a:solidFill>
            <a:srgbClr val="F2F4F8"/>
          </a:solidFill>
          <a:ln w="12700">
            <a:solidFill>
              <a:srgbClr val="F2F4F8"/>
            </a:solidFill>
            <a:prstDash val="solid"/>
          </a:ln>
        </p:spPr>
      </p:sp>
      <p:sp>
        <p:nvSpPr>
          <p:cNvPr id="28" name="node-223"/>
          <p:cNvSpPr/>
          <p:nvPr/>
        </p:nvSpPr>
        <p:spPr>
          <a:xfrm>
            <a:off x="6437376" y="1463040"/>
            <a:ext cx="457200" cy="457200"/>
          </a:xfrm>
          <a:prstGeom prst="ellipse">
            <a:avLst/>
          </a:prstGeom>
          <a:solidFill>
            <a:srgbClr val="2A9D8F"/>
          </a:solidFill>
          <a:ln w="15875">
            <a:solidFill>
              <a:srgbClr val="2A9D8F"/>
            </a:solidFill>
            <a:prstDash val="solid"/>
          </a:ln>
        </p:spPr>
      </p:sp>
      <p:sp>
        <p:nvSpPr>
          <p:cNvPr id="29" name="text-224"/>
          <p:cNvSpPr txBox="1"/>
          <p:nvPr/>
        </p:nvSpPr>
        <p:spPr>
          <a:xfrm>
            <a:off x="6437376"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225"/>
          <p:cNvSpPr txBox="1"/>
          <p:nvPr/>
        </p:nvSpPr>
        <p:spPr>
          <a:xfrm>
            <a:off x="6089904" y="2011680"/>
            <a:ext cx="1152144" cy="274320"/>
          </a:xfrm>
          <a:prstGeom prst="rect">
            <a:avLst/>
          </a:prstGeom>
          <a:noFill/>
          <a:ln/>
        </p:spPr>
        <p:txBody>
          <a:bodyPr wrap="square" lIns="0" tIns="0" rIns="0" bIns="0" rtlCol="0" anchor="t"/>
          <a:lstStyle/>
          <a:p>
            <a:pPr algn="ctr" indent="0" marL="0">
              <a:buNone/>
            </a:pPr>
            <a:r>
              <a:rPr lang="en-US" sz="1400" b="1" dirty="0">
                <a:solidFill>
                  <a:srgbClr val="2A9D8F"/>
                </a:solidFill>
                <a:latin typeface="Calibri" pitchFamily="34" charset="0"/>
                <a:ea typeface="Calibri" pitchFamily="34" charset="-122"/>
                <a:cs typeface="Calibri" pitchFamily="34" charset="-120"/>
              </a:rPr>
              <a:t>Trace back</a:t>
            </a:r>
            <a:endParaRPr lang="en-US" sz="1400" dirty="0"/>
          </a:p>
        </p:txBody>
      </p:sp>
      <p:sp>
        <p:nvSpPr>
          <p:cNvPr id="31" name="text-226"/>
          <p:cNvSpPr txBox="1"/>
          <p:nvPr/>
        </p:nvSpPr>
        <p:spPr>
          <a:xfrm>
            <a:off x="6108192" y="2331720"/>
            <a:ext cx="1115568" cy="12801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Backpropagation finds each weight's share of the error</a:t>
            </a:r>
            <a:endParaRPr lang="en-US" sz="1200" dirty="0"/>
          </a:p>
        </p:txBody>
      </p:sp>
      <p:sp>
        <p:nvSpPr>
          <p:cNvPr id="32" name="arrow-227"/>
          <p:cNvSpPr/>
          <p:nvPr/>
        </p:nvSpPr>
        <p:spPr>
          <a:xfrm>
            <a:off x="7319772" y="2514600"/>
            <a:ext cx="82296" cy="914"/>
          </a:xfrm>
          <a:prstGeom prst="line">
            <a:avLst/>
          </a:prstGeom>
          <a:noFill/>
          <a:ln w="15875">
            <a:solidFill>
              <a:srgbClr val="1B1F3B"/>
            </a:solidFill>
            <a:prstDash val="solid"/>
            <a:tailEnd type="triangle"/>
          </a:ln>
        </p:spPr>
      </p:sp>
      <p:sp>
        <p:nvSpPr>
          <p:cNvPr id="33" name="card-228"/>
          <p:cNvSpPr/>
          <p:nvPr/>
        </p:nvSpPr>
        <p:spPr>
          <a:xfrm>
            <a:off x="7406640" y="1325880"/>
            <a:ext cx="1298448" cy="2377440"/>
          </a:xfrm>
          <a:prstGeom prst="roundRect">
            <a:avLst>
              <a:gd name="adj" fmla="val 5634"/>
            </a:avLst>
          </a:prstGeom>
          <a:solidFill>
            <a:srgbClr val="F2F4F8"/>
          </a:solidFill>
          <a:ln w="12700">
            <a:solidFill>
              <a:srgbClr val="F2F4F8"/>
            </a:solidFill>
            <a:prstDash val="solid"/>
          </a:ln>
        </p:spPr>
      </p:sp>
      <p:sp>
        <p:nvSpPr>
          <p:cNvPr id="34" name="node-229"/>
          <p:cNvSpPr/>
          <p:nvPr/>
        </p:nvSpPr>
        <p:spPr>
          <a:xfrm>
            <a:off x="7827264" y="1463040"/>
            <a:ext cx="457200" cy="457200"/>
          </a:xfrm>
          <a:prstGeom prst="ellipse">
            <a:avLst/>
          </a:prstGeom>
          <a:solidFill>
            <a:srgbClr val="2A9D8F"/>
          </a:solidFill>
          <a:ln w="15875">
            <a:solidFill>
              <a:srgbClr val="2A9D8F"/>
            </a:solidFill>
            <a:prstDash val="solid"/>
          </a:ln>
        </p:spPr>
      </p:sp>
      <p:sp>
        <p:nvSpPr>
          <p:cNvPr id="35" name="text-230"/>
          <p:cNvSpPr txBox="1"/>
          <p:nvPr/>
        </p:nvSpPr>
        <p:spPr>
          <a:xfrm>
            <a:off x="7827264"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text-231"/>
          <p:cNvSpPr txBox="1"/>
          <p:nvPr/>
        </p:nvSpPr>
        <p:spPr>
          <a:xfrm>
            <a:off x="7479792" y="2011680"/>
            <a:ext cx="1152144" cy="274320"/>
          </a:xfrm>
          <a:prstGeom prst="rect">
            <a:avLst/>
          </a:prstGeom>
          <a:noFill/>
          <a:ln/>
        </p:spPr>
        <p:txBody>
          <a:bodyPr wrap="square" lIns="0" tIns="0" rIns="0" bIns="0" rtlCol="0" anchor="t"/>
          <a:lstStyle/>
          <a:p>
            <a:pPr algn="ctr" indent="0" marL="0">
              <a:buNone/>
            </a:pPr>
            <a:r>
              <a:rPr lang="en-US" sz="1400" b="1" dirty="0">
                <a:solidFill>
                  <a:srgbClr val="2A9D8F"/>
                </a:solidFill>
                <a:latin typeface="Calibri" pitchFamily="34" charset="0"/>
                <a:ea typeface="Calibri" pitchFamily="34" charset="-122"/>
                <a:cs typeface="Calibri" pitchFamily="34" charset="-120"/>
              </a:rPr>
              <a:t>Adjust</a:t>
            </a:r>
            <a:endParaRPr lang="en-US" sz="1400" dirty="0"/>
          </a:p>
        </p:txBody>
      </p:sp>
      <p:sp>
        <p:nvSpPr>
          <p:cNvPr id="37" name="text-232"/>
          <p:cNvSpPr txBox="1"/>
          <p:nvPr/>
        </p:nvSpPr>
        <p:spPr>
          <a:xfrm>
            <a:off x="7498080" y="2331720"/>
            <a:ext cx="1115568" cy="12801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Optimizer updates every weight by a small step</a:t>
            </a:r>
            <a:endParaRPr lang="en-US" sz="1200" dirty="0"/>
          </a:p>
        </p:txBody>
      </p:sp>
      <p:sp>
        <p:nvSpPr>
          <p:cNvPr id="38" name="card-233"/>
          <p:cNvSpPr/>
          <p:nvPr/>
        </p:nvSpPr>
        <p:spPr>
          <a:xfrm>
            <a:off x="457200" y="3886200"/>
            <a:ext cx="8229600" cy="685800"/>
          </a:xfrm>
          <a:prstGeom prst="roundRect">
            <a:avLst>
              <a:gd name="adj" fmla="val 10667"/>
            </a:avLst>
          </a:prstGeom>
          <a:solidFill>
            <a:srgbClr val="EAF6F4"/>
          </a:solidFill>
          <a:ln w="12700">
            <a:solidFill>
              <a:srgbClr val="EAF6F4"/>
            </a:solidFill>
            <a:prstDash val="solid"/>
          </a:ln>
        </p:spPr>
      </p:sp>
      <p:sp>
        <p:nvSpPr>
          <p:cNvPr id="39" name="text-234"/>
          <p:cNvSpPr txBox="1"/>
          <p:nvPr/>
        </p:nvSpPr>
        <p:spPr>
          <a:xfrm>
            <a:off x="640080" y="3950208"/>
            <a:ext cx="786384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Repeat for every batch. One full pass over the training data is one epoch; my Playground runs used 600 to 1,500 epochs.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What 23 Playground runs showed</a:t>
            </a:r>
            <a:endParaRPr lang="en-US" sz="3000" dirty="0"/>
          </a:p>
        </p:txBody>
      </p:sp>
      <p:graphicFrame>
        <p:nvGraphicFramePr>
          <p:cNvPr id="12" name="table-235"/>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463040"/>
                <a:gridCol w="2103120"/>
                <a:gridCol w="914400"/>
                <a:gridCol w="374904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Change tested</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1B1F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Setting</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1B1F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Test loss</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1B1F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shows</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1B1F3B"/>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Hidden layers</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none vs 4 then 2</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b="1" dirty="0">
                          <a:solidFill>
                            <a:srgbClr val="D1495B"/>
                          </a:solidFill>
                          <a:latin typeface="Calibri" pitchFamily="34" charset="0"/>
                          <a:ea typeface="Calibri" pitchFamily="34" charset="-122"/>
                          <a:cs typeface="Calibri" pitchFamily="34" charset="-120"/>
                        </a:rPr>
                        <a:t>0.532</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Depth lets the boundary curve (0.532 to 0.001)</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Better features</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x1², x2², no hidden layer</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0.001</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Good inputs can replace hidden layers</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Random start</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same setup, first seed</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b="1" dirty="0">
                          <a:solidFill>
                            <a:srgbClr val="D1495B"/>
                          </a:solidFill>
                          <a:latin typeface="Calibri" pitchFamily="34" charset="0"/>
                          <a:ea typeface="Calibri" pitchFamily="34" charset="-122"/>
                          <a:cs typeface="Calibri" pitchFamily="34" charset="-120"/>
                        </a:rPr>
                        <a:t>1.032</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A bad start can freeze learning</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Hard data</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spiral, 4 then 2</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D1495B"/>
                          </a:solidFill>
                          <a:latin typeface="Calibri" pitchFamily="34" charset="0"/>
                          <a:ea typeface="Calibri" pitchFamily="34" charset="-122"/>
                          <a:cs typeface="Calibri" pitchFamily="34" charset="-120"/>
                        </a:rPr>
                        <a:t>0.468</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Too small a network for the shape</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Hard data</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spiral, 8-8-6 + 7 features</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0.045</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Capacity plus features solve it (0.138 without features)</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Noise</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xor, noise 0 vs 50</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D1495B"/>
                          </a:solidFill>
                          <a:latin typeface="Calibri" pitchFamily="34" charset="0"/>
                          <a:ea typeface="Calibri" pitchFamily="34" charset="-122"/>
                          <a:cs typeface="Calibri" pitchFamily="34" charset="-120"/>
                        </a:rPr>
                        <a:t>0.275</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Noise raises the floor (from 0.016)</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Activation</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xor, linear</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b="1" dirty="0">
                          <a:solidFill>
                            <a:srgbClr val="D1495B"/>
                          </a:solidFill>
                          <a:latin typeface="Calibri" pitchFamily="34" charset="0"/>
                          <a:ea typeface="Calibri" pitchFamily="34" charset="-122"/>
                          <a:cs typeface="Calibri" pitchFamily="34" charset="-120"/>
                        </a:rPr>
                        <a:t>0.496</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No bend, no curve</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2F4F8"/>
                    </a:solidFill>
                  </a:tcPr>
                </a:tc>
              </a:tr>
              <a:tr h="384048">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Learning rate</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circle, rate 3</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D1495B"/>
                          </a:solidFill>
                          <a:latin typeface="Calibri" pitchFamily="34" charset="0"/>
                          <a:ea typeface="Calibri" pitchFamily="34" charset="-122"/>
                          <a:cs typeface="Calibri" pitchFamily="34" charset="-120"/>
                        </a:rPr>
                        <a:t>0.718</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50" dirty="0">
                          <a:solidFill>
                            <a:srgbClr val="1B1F3B"/>
                          </a:solidFill>
                          <a:latin typeface="Calibri" pitchFamily="34" charset="0"/>
                          <a:ea typeface="Calibri" pitchFamily="34" charset="-122"/>
                          <a:cs typeface="Calibri" pitchFamily="34" charset="-120"/>
                        </a:rPr>
                        <a:t>Steps too big to settle</a:t>
                      </a:r>
                      <a:endParaRPr lang="en-US" sz="1150" dirty="0">
                        <a:latin typeface="Calibri" charset="0"/>
                        <a:ea typeface="Calibri" charset="0"/>
                        <a:cs typeface="Calibri" charset="0"/>
                      </a:endParaRPr>
                    </a:p>
                  </a:txBody>
                  <a:tcPr marL="73152" marR="73152" marT="27432" marB="27432" anchor="ctr">
                    <a:lnL w="6350" cap="flat" cmpd="sng" algn="ctr">
                      <a:solidFill>
                        <a:srgbClr val="DDE1EA"/>
                      </a:solidFill>
                      <a:prstDash val="solid"/>
                      <a:round/>
                      <a:headEnd type="none" w="med" len="med"/>
                      <a:tailEnd type="none" w="med" len="med"/>
                    </a:lnL>
                    <a:lnR w="6350" cap="flat" cmpd="sng" algn="ctr">
                      <a:solidFill>
                        <a:srgbClr val="DDE1EA"/>
                      </a:solidFill>
                      <a:prstDash val="solid"/>
                      <a:round/>
                      <a:headEnd type="none" w="med" len="med"/>
                      <a:tailEnd type="none" w="med" len="med"/>
                    </a:lnR>
                    <a:lnT w="6350" cap="flat" cmpd="sng" algn="ctr">
                      <a:solidFill>
                        <a:srgbClr val="DDE1EA"/>
                      </a:solidFill>
                      <a:prstDash val="solid"/>
                      <a:round/>
                      <a:headEnd type="none" w="med" len="med"/>
                      <a:tailEnd type="none" w="med" len="med"/>
                    </a:lnT>
                    <a:lnB w="6350" cap="flat" cmpd="sng" algn="ctr">
                      <a:solidFill>
                        <a:srgbClr val="DDE1EA"/>
                      </a:solidFill>
                      <a:prstDash val="solid"/>
                      <a:round/>
                      <a:headEnd type="none" w="med" len="med"/>
                      <a:tailEnd type="none" w="med" len="med"/>
                    </a:lnB>
                    <a:solidFill>
                      <a:srgbClr val="FFFFFF"/>
                    </a:solidFill>
                  </a:tcPr>
                </a:tc>
              </a:tr>
            </a:tbl>
          </a:graphicData>
        </a:graphic>
      </p:graphicFrame>
      <p:sp>
        <p:nvSpPr>
          <p:cNvPr id="4" name="text-236"/>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000" i="1" dirty="0">
                <a:solidFill>
                  <a:schemeClr val="tx2"/>
                </a:solidFill>
                <a:latin typeface="Calibri" pitchFamily="34" charset="0"/>
                <a:ea typeface="Calibri" pitchFamily="34" charset="-122"/>
                <a:cs typeface="Calibri" pitchFamily="34" charset="-120"/>
              </a:rPr>
              <a:t>All runs: same seed unless noted, batch size 10, 50% of points held out for testing. Loss above 0.1 in red.</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Seeing it: the spiral before and after</a:t>
            </a:r>
            <a:endParaRPr lang="en-US" sz="3000" dirty="0"/>
          </a:p>
        </p:txBody>
      </p:sp>
      <p:pic>
        <p:nvPicPr>
          <p:cNvPr id="3" name="image-237" descr="Small network, 2 inputs: test loss 0.468">    </p:cNvPr>
          <p:cNvPicPr>
            <a:picLocks noChangeAspect="1"/>
          </p:cNvPicPr>
          <p:nvPr/>
        </p:nvPicPr>
        <p:blipFill>
          <a:blip r:embed="rId1"/>
          <a:srcRect l="0" r="0" t="0" b="0"/>
          <a:stretch/>
        </p:blipFill>
        <p:spPr>
          <a:xfrm>
            <a:off x="457200" y="1051560"/>
            <a:ext cx="4023360" cy="2043611"/>
          </a:xfrm>
          <a:prstGeom prst="rect">
            <a:avLst/>
          </a:prstGeom>
        </p:spPr>
      </p:pic>
      <p:sp>
        <p:nvSpPr>
          <p:cNvPr id="4" name="text-238"/>
          <p:cNvSpPr txBox="1"/>
          <p:nvPr/>
        </p:nvSpPr>
        <p:spPr>
          <a:xfrm>
            <a:off x="457200" y="3168323"/>
            <a:ext cx="4023360" cy="274320"/>
          </a:xfrm>
          <a:prstGeom prst="rect">
            <a:avLst/>
          </a:prstGeom>
          <a:noFill/>
          <a:ln/>
        </p:spPr>
        <p:txBody>
          <a:bodyPr wrap="square" lIns="0" tIns="0" rIns="0" bIns="0" rtlCol="0" anchor="t"/>
          <a:lstStyle/>
          <a:p>
            <a:pPr indent="0" marL="0">
              <a:buNone/>
            </a:pPr>
            <a:r>
              <a:rPr lang="en-US" sz="1300" b="1" dirty="0">
                <a:solidFill>
                  <a:srgbClr val="D1495B"/>
                </a:solidFill>
                <a:latin typeface="Calibri" pitchFamily="34" charset="0"/>
                <a:ea typeface="Calibri" pitchFamily="34" charset="-122"/>
                <a:cs typeface="Calibri" pitchFamily="34" charset="-120"/>
              </a:rPr>
              <a:t>Small network, 2 inputs: test loss 0.468</a:t>
            </a:r>
            <a:endParaRPr lang="en-US" sz="1300" dirty="0"/>
          </a:p>
        </p:txBody>
      </p:sp>
      <p:pic>
        <p:nvPicPr>
          <p:cNvPr id="5" name="image-239" descr="Deeper network, 7 inputs: test loss 0.045">    </p:cNvPr>
          <p:cNvPicPr>
            <a:picLocks noChangeAspect="1"/>
          </p:cNvPicPr>
          <p:nvPr/>
        </p:nvPicPr>
        <p:blipFill>
          <a:blip r:embed="rId2"/>
          <a:srcRect l="0" r="0" t="0" b="0"/>
          <a:stretch/>
        </p:blipFill>
        <p:spPr>
          <a:xfrm>
            <a:off x="4663440" y="1051560"/>
            <a:ext cx="4023360" cy="2043611"/>
          </a:xfrm>
          <a:prstGeom prst="rect">
            <a:avLst/>
          </a:prstGeom>
        </p:spPr>
      </p:pic>
      <p:sp>
        <p:nvSpPr>
          <p:cNvPr id="6" name="text-240"/>
          <p:cNvSpPr txBox="1"/>
          <p:nvPr/>
        </p:nvSpPr>
        <p:spPr>
          <a:xfrm>
            <a:off x="4663440" y="3168323"/>
            <a:ext cx="4023360" cy="274320"/>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Deeper network, 7 inputs: test loss 0.045</a:t>
            </a:r>
            <a:endParaRPr lang="en-US" sz="1300" dirty="0"/>
          </a:p>
        </p:txBody>
      </p:sp>
      <p:sp>
        <p:nvSpPr>
          <p:cNvPr id="7" name="text-241"/>
          <p:cNvSpPr txBox="1"/>
          <p:nvPr/>
        </p:nvSpPr>
        <p:spPr>
          <a:xfrm>
            <a:off x="457200" y="3520440"/>
            <a:ext cx="822960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Screenshots from my TensorFlow Playground runs (1,500 epochs). Left: the network cannot follow the arms of the spiral. Right: extra layers and features such as sin(x1) let it trace both arms.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242"/>
          <p:cNvSpPr txBox="1"/>
          <p:nvPr/>
        </p:nvSpPr>
        <p:spPr>
          <a:xfrm>
            <a:off x="548640" y="365760"/>
            <a:ext cx="804672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Why visualizing networks matters</a:t>
            </a:r>
            <a:endParaRPr lang="en-US" sz="3000" dirty="0"/>
          </a:p>
        </p:txBody>
      </p:sp>
      <p:sp>
        <p:nvSpPr>
          <p:cNvPr id="3" name="node-243"/>
          <p:cNvSpPr/>
          <p:nvPr/>
        </p:nvSpPr>
        <p:spPr>
          <a:xfrm>
            <a:off x="548640" y="1252728"/>
            <a:ext cx="384048" cy="384048"/>
          </a:xfrm>
          <a:prstGeom prst="ellipse">
            <a:avLst/>
          </a:prstGeom>
          <a:solidFill>
            <a:srgbClr val="2E86C1"/>
          </a:solidFill>
          <a:ln w="15875">
            <a:solidFill>
              <a:srgbClr val="2E86C1"/>
            </a:solidFill>
            <a:prstDash val="solid"/>
          </a:ln>
        </p:spPr>
      </p:sp>
      <p:sp>
        <p:nvSpPr>
          <p:cNvPr id="4" name="text-244"/>
          <p:cNvSpPr txBox="1"/>
          <p:nvPr/>
        </p:nvSpPr>
        <p:spPr>
          <a:xfrm>
            <a:off x="1097280" y="1234440"/>
            <a:ext cx="3383280"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Pictures make the math checkable</a:t>
            </a:r>
            <a:endParaRPr lang="en-US" sz="1600" dirty="0"/>
          </a:p>
        </p:txBody>
      </p:sp>
      <p:sp>
        <p:nvSpPr>
          <p:cNvPr id="5" name="text-245"/>
          <p:cNvSpPr txBox="1"/>
          <p:nvPr/>
        </p:nvSpPr>
        <p:spPr>
          <a:xfrm>
            <a:off x="1097280" y="1600200"/>
            <a:ext cx="3383280" cy="1097280"/>
          </a:xfrm>
          <a:prstGeom prst="rect">
            <a:avLst/>
          </a:prstGeom>
          <a:noFill/>
          <a:ln/>
        </p:spPr>
        <p:txBody>
          <a:bodyPr wrap="square" lIns="0" tIns="0" rIns="0" bIns="0" rtlCol="0" anchor="t"/>
          <a:lstStyle/>
          <a:p>
            <a:pPr indent="0" marL="0">
              <a:buNone/>
            </a:pPr>
            <a:r>
              <a:rPr lang="en-US" sz="1400" dirty="0">
                <a:solidFill>
                  <a:srgbClr val="C9CEE0"/>
                </a:solidFill>
                <a:latin typeface="Calibri" pitchFamily="34" charset="0"/>
                <a:ea typeface="Calibri" pitchFamily="34" charset="-122"/>
                <a:cs typeface="Calibri" pitchFamily="34" charset="-120"/>
              </a:rPr>
              <a:t>Seeing weights as colored lines and outputs as maps showed me when a network was stuck, long before the loss number said why.</a:t>
            </a:r>
            <a:endParaRPr lang="en-US" sz="1400" dirty="0"/>
          </a:p>
        </p:txBody>
      </p:sp>
      <p:sp>
        <p:nvSpPr>
          <p:cNvPr id="6" name="node-246"/>
          <p:cNvSpPr/>
          <p:nvPr/>
        </p:nvSpPr>
        <p:spPr>
          <a:xfrm>
            <a:off x="4617720" y="1252728"/>
            <a:ext cx="384048" cy="384048"/>
          </a:xfrm>
          <a:prstGeom prst="ellipse">
            <a:avLst/>
          </a:prstGeom>
          <a:solidFill>
            <a:srgbClr val="F28C28"/>
          </a:solidFill>
          <a:ln w="15875">
            <a:solidFill>
              <a:srgbClr val="F28C28"/>
            </a:solidFill>
            <a:prstDash val="solid"/>
          </a:ln>
        </p:spPr>
      </p:sp>
      <p:sp>
        <p:nvSpPr>
          <p:cNvPr id="7" name="text-247"/>
          <p:cNvSpPr txBox="1"/>
          <p:nvPr/>
        </p:nvSpPr>
        <p:spPr>
          <a:xfrm>
            <a:off x="5166360" y="1234440"/>
            <a:ext cx="3383280"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Structure is a choice, not a default</a:t>
            </a:r>
            <a:endParaRPr lang="en-US" sz="1600" dirty="0"/>
          </a:p>
        </p:txBody>
      </p:sp>
      <p:sp>
        <p:nvSpPr>
          <p:cNvPr id="8" name="text-248"/>
          <p:cNvSpPr txBox="1"/>
          <p:nvPr/>
        </p:nvSpPr>
        <p:spPr>
          <a:xfrm>
            <a:off x="5166360" y="1600200"/>
            <a:ext cx="3383280" cy="1097280"/>
          </a:xfrm>
          <a:prstGeom prst="rect">
            <a:avLst/>
          </a:prstGeom>
          <a:noFill/>
          <a:ln/>
        </p:spPr>
        <p:txBody>
          <a:bodyPr wrap="square" lIns="0" tIns="0" rIns="0" bIns="0" rtlCol="0" anchor="t"/>
          <a:lstStyle/>
          <a:p>
            <a:pPr indent="0" marL="0">
              <a:buNone/>
            </a:pPr>
            <a:r>
              <a:rPr lang="en-US" sz="1400" dirty="0">
                <a:solidFill>
                  <a:srgbClr val="C9CEE0"/>
                </a:solidFill>
                <a:latin typeface="Calibri" pitchFamily="34" charset="0"/>
                <a:ea typeface="Calibri" pitchFamily="34" charset="-122"/>
                <a:cs typeface="Calibri" pitchFamily="34" charset="-120"/>
              </a:rPr>
              <a:t>The circle needed a hidden layer, unless I gave it better features. Model design starts with the data.</a:t>
            </a:r>
            <a:endParaRPr lang="en-US" sz="1400" dirty="0"/>
          </a:p>
        </p:txBody>
      </p:sp>
      <p:sp>
        <p:nvSpPr>
          <p:cNvPr id="9" name="node-249"/>
          <p:cNvSpPr/>
          <p:nvPr/>
        </p:nvSpPr>
        <p:spPr>
          <a:xfrm>
            <a:off x="548640" y="2852928"/>
            <a:ext cx="384048" cy="384048"/>
          </a:xfrm>
          <a:prstGeom prst="ellipse">
            <a:avLst/>
          </a:prstGeom>
          <a:solidFill>
            <a:srgbClr val="2E86C1"/>
          </a:solidFill>
          <a:ln w="15875">
            <a:solidFill>
              <a:srgbClr val="2E86C1"/>
            </a:solidFill>
            <a:prstDash val="solid"/>
          </a:ln>
        </p:spPr>
      </p:sp>
      <p:sp>
        <p:nvSpPr>
          <p:cNvPr id="10" name="text-250"/>
          <p:cNvSpPr txBox="1"/>
          <p:nvPr/>
        </p:nvSpPr>
        <p:spPr>
          <a:xfrm>
            <a:off x="1097280" y="2834640"/>
            <a:ext cx="3383280"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The learning loop can fail quietly</a:t>
            </a:r>
            <a:endParaRPr lang="en-US" sz="1600" dirty="0"/>
          </a:p>
        </p:txBody>
      </p:sp>
      <p:sp>
        <p:nvSpPr>
          <p:cNvPr id="11" name="text-251"/>
          <p:cNvSpPr txBox="1"/>
          <p:nvPr/>
        </p:nvSpPr>
        <p:spPr>
          <a:xfrm>
            <a:off x="1097280" y="3200400"/>
            <a:ext cx="3383280" cy="1097280"/>
          </a:xfrm>
          <a:prstGeom prst="rect">
            <a:avLst/>
          </a:prstGeom>
          <a:noFill/>
          <a:ln/>
        </p:spPr>
        <p:txBody>
          <a:bodyPr wrap="square" lIns="0" tIns="0" rIns="0" bIns="0" rtlCol="0" anchor="t"/>
          <a:lstStyle/>
          <a:p>
            <a:pPr indent="0" marL="0">
              <a:buNone/>
            </a:pPr>
            <a:r>
              <a:rPr lang="en-US" sz="1400" dirty="0">
                <a:solidFill>
                  <a:srgbClr val="C9CEE0"/>
                </a:solidFill>
                <a:latin typeface="Calibri" pitchFamily="34" charset="0"/>
                <a:ea typeface="Calibri" pitchFamily="34" charset="-122"/>
                <a:cs typeface="Calibri" pitchFamily="34" charset="-120"/>
              </a:rPr>
              <a:t>A bad learning rate or an unlucky start gave confident, wrong answers. Watching training is part of building responsibly.</a:t>
            </a:r>
            <a:endParaRPr lang="en-US" sz="1400" dirty="0"/>
          </a:p>
        </p:txBody>
      </p:sp>
      <p:sp>
        <p:nvSpPr>
          <p:cNvPr id="12" name="node-252"/>
          <p:cNvSpPr/>
          <p:nvPr/>
        </p:nvSpPr>
        <p:spPr>
          <a:xfrm>
            <a:off x="4617720" y="2852928"/>
            <a:ext cx="384048" cy="384048"/>
          </a:xfrm>
          <a:prstGeom prst="ellipse">
            <a:avLst/>
          </a:prstGeom>
          <a:solidFill>
            <a:srgbClr val="F28C28"/>
          </a:solidFill>
          <a:ln w="15875">
            <a:solidFill>
              <a:srgbClr val="F28C28"/>
            </a:solidFill>
            <a:prstDash val="solid"/>
          </a:ln>
        </p:spPr>
      </p:sp>
      <p:sp>
        <p:nvSpPr>
          <p:cNvPr id="13" name="text-253"/>
          <p:cNvSpPr txBox="1"/>
          <p:nvPr/>
        </p:nvSpPr>
        <p:spPr>
          <a:xfrm>
            <a:off x="5166360" y="2834640"/>
            <a:ext cx="3383280"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Simple parts, big systems</a:t>
            </a:r>
            <a:endParaRPr lang="en-US" sz="1600" dirty="0"/>
          </a:p>
        </p:txBody>
      </p:sp>
      <p:sp>
        <p:nvSpPr>
          <p:cNvPr id="14" name="text-254"/>
          <p:cNvSpPr txBox="1"/>
          <p:nvPr/>
        </p:nvSpPr>
        <p:spPr>
          <a:xfrm>
            <a:off x="5166360" y="3200400"/>
            <a:ext cx="3383280" cy="1097280"/>
          </a:xfrm>
          <a:prstGeom prst="rect">
            <a:avLst/>
          </a:prstGeom>
          <a:noFill/>
          <a:ln/>
        </p:spPr>
        <p:txBody>
          <a:bodyPr wrap="square" lIns="0" tIns="0" rIns="0" bIns="0" rtlCol="0" anchor="t"/>
          <a:lstStyle/>
          <a:p>
            <a:pPr indent="0" marL="0">
              <a:buNone/>
            </a:pPr>
            <a:r>
              <a:rPr lang="en-US" sz="1400" dirty="0">
                <a:solidFill>
                  <a:srgbClr val="C9CEE0"/>
                </a:solidFill>
                <a:latin typeface="Calibri" pitchFamily="34" charset="0"/>
                <a:ea typeface="Calibri" pitchFamily="34" charset="-122"/>
                <a:cs typeface="Calibri" pitchFamily="34" charset="-120"/>
              </a:rPr>
              <a:t>The 25 dials in my small network and the billions in a language model follow the same six-part recipe.</a:t>
            </a:r>
            <a:endParaRPr lang="en-US" sz="1400" dirty="0"/>
          </a:p>
        </p:txBody>
      </p:sp>
      <p:sp>
        <p:nvSpPr>
          <p:cNvPr id="15" name="text-255"/>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300" i="1" dirty="0">
                <a:solidFill>
                  <a:srgbClr val="F28C28"/>
                </a:solidFill>
                <a:latin typeface="Calibri" pitchFamily="34" charset="0"/>
                <a:ea typeface="Calibri" pitchFamily="34" charset="-122"/>
                <a:cs typeface="Calibri" pitchFamily="34" charset="-120"/>
              </a:rPr>
              <a:t>Layers and neurons give the shape. Weights and activations carry the signal. Loss and the optimizer do the learning.</a:t>
            </a:r>
            <a:endParaRPr lang="en-US" sz="1300" dirty="0"/>
          </a:p>
        </p:txBody>
      </p:sp>
      <p:sp>
        <p:nvSpPr>
          <p:cNvPr id="17"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indent="0" marL="0">
              <a:buNone/>
            </a:pPr>
            <a:endParaRPr lang="en-US" sz="4000" dirty="0"/>
          </a:p>
        </p:txBody>
      </p:sp>
      <p:sp>
        <p:nvSpPr>
          <p:cNvPr id="18" name="Text 0"/>
          <p:cNvSpPr/>
          <p:nvPr>
            <p:ph idx="101" type="body" hasCustomPrompt="1"/>
          </p:nvPr>
        </p:nvSpPr>
        <p:spPr>
          <a:xfrm>
            <a:off x="548640" y="2697480"/>
            <a:ext cx="7315200" cy="822960"/>
          </a:xfrm>
          <a:prstGeom prst="rect">
            <a:avLst/>
          </a:prstGeom>
          <a:noFill/>
          <a:ln/>
        </p:spPr>
        <p:txBody>
          <a:bodyPr wrap="square" lIns="0" tIns="0" rIns="0" bIns="0" rtlCol="0" anchor="t"/>
          <a:lstStyle/>
          <a:p>
            <a:pPr indent="0" marL="0">
              <a:buNone/>
            </a:pP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References</a:t>
            </a:r>
            <a:endParaRPr lang="en-US" sz="3000" dirty="0"/>
          </a:p>
        </p:txBody>
      </p:sp>
      <p:sp>
        <p:nvSpPr>
          <p:cNvPr id="3" name="text-256"/>
          <p:cNvSpPr txBox="1"/>
          <p:nvPr/>
        </p:nvSpPr>
        <p:spPr>
          <a:xfrm>
            <a:off x="457200" y="1005840"/>
            <a:ext cx="8229600" cy="3566160"/>
          </a:xfrm>
          <a:prstGeom prst="rect">
            <a:avLst/>
          </a:prstGeom>
          <a:noFill/>
          <a:ln/>
        </p:spPr>
        <p:txBody>
          <a:bodyPr wrap="square" lIns="0" tIns="0" rIns="0" bIns="0" rtlCol="0" anchor="t"/>
          <a:lstStyle/>
          <a:p>
            <a:pPr indent="0" marL="0">
              <a:spcAft>
                <a:spcPts val="600"/>
              </a:spcAft>
              <a:buNone/>
            </a:pPr>
            <a:r>
              <a:rPr lang="en-US" sz="1100" dirty="0">
                <a:solidFill>
                  <a:schemeClr val="tx1"/>
                </a:solidFill>
                <a:latin typeface="Calibri" pitchFamily="34" charset="0"/>
                <a:ea typeface="Calibri" pitchFamily="34" charset="-122"/>
                <a:cs typeface="Calibri" pitchFamily="34" charset="-120"/>
              </a:rPr>
              <a:t>3Blue1Brown. (2017, October 5). But what is a neural network? | Deep learning chapter 1 [Video]. YouTube. https://www.youtube.com/watch?v=aircAruvnKk</a:t>
            </a:r>
            <a:endParaRPr lang="en-US" sz="1100" dirty="0"/>
          </a:p>
          <a:p>
            <a:pPr indent="0" marL="0">
              <a:spcAft>
                <a:spcPts val="600"/>
              </a:spcAft>
              <a:buNone/>
            </a:pPr>
            <a:r>
              <a:rPr lang="en-US" sz="1100" dirty="0">
                <a:solidFill>
                  <a:schemeClr val="tx1"/>
                </a:solidFill>
                <a:latin typeface="Calibri" pitchFamily="34" charset="0"/>
                <a:ea typeface="Calibri" pitchFamily="34" charset="-122"/>
                <a:cs typeface="Calibri" pitchFamily="34" charset="-120"/>
              </a:rPr>
              <a:t>Goodfellow, I., Bengio, Y., &amp; Courville, A. (2016). Deep learning. MIT Press. https://www.deeplearningbook.org</a:t>
            </a:r>
            <a:endParaRPr lang="en-US" sz="1100" dirty="0"/>
          </a:p>
          <a:p>
            <a:pPr indent="0" marL="0">
              <a:spcAft>
                <a:spcPts val="600"/>
              </a:spcAft>
              <a:buNone/>
            </a:pPr>
            <a:r>
              <a:rPr lang="en-US" sz="1100" dirty="0">
                <a:solidFill>
                  <a:schemeClr val="tx1"/>
                </a:solidFill>
                <a:latin typeface="Calibri" pitchFamily="34" charset="0"/>
                <a:ea typeface="Calibri" pitchFamily="34" charset="-122"/>
                <a:cs typeface="Calibri" pitchFamily="34" charset="-120"/>
              </a:rPr>
              <a:t>Google. (2025). Neural networks. Machine Learning Crash Course. https://developers.google.com/machine-learning/crash-course/neural-networks</a:t>
            </a:r>
            <a:endParaRPr lang="en-US" sz="1100" dirty="0"/>
          </a:p>
          <a:p>
            <a:pPr indent="0" marL="0">
              <a:spcAft>
                <a:spcPts val="600"/>
              </a:spcAft>
              <a:buNone/>
            </a:pPr>
            <a:r>
              <a:rPr lang="en-US" sz="1100" dirty="0">
                <a:solidFill>
                  <a:schemeClr val="tx1"/>
                </a:solidFill>
                <a:latin typeface="Calibri" pitchFamily="34" charset="0"/>
                <a:ea typeface="Calibri" pitchFamily="34" charset="-122"/>
                <a:cs typeface="Calibri" pitchFamily="34" charset="-120"/>
              </a:rPr>
              <a:t>IBM Technology. (2022, May 24). Neural networks explained in 5 minutes [Video]. YouTube. https://www.youtube.com/watch?v=jmmW0F0biz0</a:t>
            </a:r>
            <a:endParaRPr lang="en-US" sz="1100" dirty="0"/>
          </a:p>
          <a:p>
            <a:pPr indent="0" marL="0">
              <a:spcAft>
                <a:spcPts val="600"/>
              </a:spcAft>
              <a:buNone/>
            </a:pPr>
            <a:r>
              <a:rPr lang="en-US" sz="1100" dirty="0">
                <a:solidFill>
                  <a:schemeClr val="tx1"/>
                </a:solidFill>
                <a:latin typeface="Calibri" pitchFamily="34" charset="0"/>
                <a:ea typeface="Calibri" pitchFamily="34" charset="-122"/>
                <a:cs typeface="Calibri" pitchFamily="34" charset="-120"/>
              </a:rPr>
              <a:t>Kingma, D. P., &amp; Ba, J. (2014). Adam: A method for stochastic optimization. arXiv. https://doi.org/10.48550/arXiv.1412.6980</a:t>
            </a:r>
            <a:endParaRPr lang="en-US" sz="1100" dirty="0"/>
          </a:p>
          <a:p>
            <a:pPr indent="0" marL="0">
              <a:spcAft>
                <a:spcPts val="600"/>
              </a:spcAft>
              <a:buNone/>
            </a:pPr>
            <a:r>
              <a:rPr lang="en-US" sz="1100" dirty="0">
                <a:solidFill>
                  <a:schemeClr val="tx1"/>
                </a:solidFill>
                <a:latin typeface="Calibri" pitchFamily="34" charset="0"/>
                <a:ea typeface="Calibri" pitchFamily="34" charset="-122"/>
                <a:cs typeface="Calibri" pitchFamily="34" charset="-120"/>
              </a:rPr>
              <a:t>Rumelhart, D. E., Hinton, G. E., &amp; Williams, R. J. (1986). Learning representations by back-propagating errors. Nature, 323(6088), 533–536. https://doi.org/10.1038/323533a0</a:t>
            </a:r>
            <a:endParaRPr lang="en-US" sz="1100" dirty="0"/>
          </a:p>
          <a:p>
            <a:pPr indent="0" marL="0">
              <a:spcAft>
                <a:spcPts val="600"/>
              </a:spcAft>
              <a:buNone/>
            </a:pPr>
            <a:r>
              <a:rPr lang="en-US" sz="1100" dirty="0">
                <a:solidFill>
                  <a:schemeClr val="tx1"/>
                </a:solidFill>
                <a:latin typeface="Calibri" pitchFamily="34" charset="0"/>
                <a:ea typeface="Calibri" pitchFamily="34" charset="-122"/>
                <a:cs typeface="Calibri" pitchFamily="34" charset="-120"/>
              </a:rPr>
              <a:t>Smilkov, D., &amp; Carter, S. (n.d.). TensorFlow Playground [Web application]. Retrieved October 27, 2026, from https://playground.tensorflow.org</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D99AE"/>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layground Ink">
  <a:themeElements>
    <a:clrScheme name="Playground Ink">
      <a:dk1>
        <a:srgbClr val="1B1F3B"/>
      </a:dk1>
      <a:lt1>
        <a:srgbClr val="FFFFFF"/>
      </a:lt1>
      <a:dk2>
        <a:srgbClr val="3A4366"/>
      </a:dk2>
      <a:lt2>
        <a:srgbClr val="F2F4F8"/>
      </a:lt2>
      <a:accent1>
        <a:srgbClr val="F28C28"/>
      </a:accent1>
      <a:accent2>
        <a:srgbClr val="2E86C1"/>
      </a:accent2>
      <a:accent3>
        <a:srgbClr val="2A9D8F"/>
      </a:accent3>
      <a:accent4>
        <a:srgbClr val="8E5BB5"/>
      </a:accent4>
      <a:accent5>
        <a:srgbClr val="8D99AE"/>
      </a:accent5>
      <a:accent6>
        <a:srgbClr val="D1495B"/>
      </a:accent6>
      <a:hlink>
        <a:srgbClr val="2E86C1"/>
      </a:hlink>
      <a:folHlink>
        <a:srgbClr val="8E5BB5"/>
      </a:folHlink>
    </a:clrScheme>
    <a:fontScheme name="Playground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a Neural Network</dc:title>
  <dc:subject>PptxGenJS Presentation</dc:subject>
  <dc:creator>Bindu Bhargava Reddy Chintam</dc:creator>
  <cp:lastModifiedBy>Bindu Bhargava Reddy Chintam</cp:lastModifiedBy>
  <cp:revision>1</cp:revision>
  <dcterms:created xsi:type="dcterms:W3CDTF">2026-10-27T07:58:44Z</dcterms:created>
  <dcterms:modified xsi:type="dcterms:W3CDTF">2026-10-27T07:58:44Z</dcterms:modified>
</cp:coreProperties>
</file>